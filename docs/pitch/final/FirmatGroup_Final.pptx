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Good morning. We are FirmatGroup, and this is Sportel, for Challenge 02, the decision-making dashboard.
Sportel gives every head of department numbers they can defend: every number, with its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[0:15–1:00]
First, credit: in May, Elbasan was named one of three national good-practice models for validating performance indicators. [Confirm the exact wording at the municipal desk.]
Now picture any municipality. Friday afternoon, council on Monday. The deputy mayor asks the head of Public Services: how much of our waste cost does the cleaning fee cover?
The fee sits in one directorate's Excel file, the cost in another's, each with its own layout and units. Staff email spreadsheets and copy totals. A number goes up, but nobody can show which rows it came from.
And the national performance indicators are collected once a year, so a problem visible in March shows up in next year's report. Decisions wait, and they rest on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[1:00–2:30 · play the demo video, speak over it]
Sportel turns the files departments already have into indicators with proof. One flow, on synthetic files.
I am the head of Public Services. The board shows 6 of 13 indicators with proof. The grey tiles say which export is missing and who owns it.
I ask the deputy mayor's question. Sportel does not guess. It answers "Not answerable": the revenue export is missing, owner: the Local Revenue Directorate.
My colleague in Revenue drops the Excel file they already produce. Code finds the header, the units and the total row, and removes personal columns. The AI suggests which column means what, from the column names only. A person confirms.
The receipt: 100 rows read, 96 loaded, 4 set aside, and the totals match the file's own total.
Same question again: Verified. 55 percent on synthetic data, with the formula and the exact source rows from two directorates. The tile turns green, 8 of 13, and the Excel report has a source column next to every value. That is what I take into the council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[2:30–3:00]
Three users. The head of department opens the board every month: what is proven, what is off target, and which directorate to ask for data.
Their staff do one thing: upload the Excel file they already make. Next month the format is remembered, so it is one click.
Adoption is decided by the mayor's office, with IT approving one server.
Before: once a year, on trust. After: every month, with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[3:00–3:30]
The AI does two small jobs: it reads column names, and it understands a question in Albanian. It never sees the numbers: no cell values, no rows, and personal columns are removed first. Code computes every number.
For the pilot, Sportel runs on the municipality's own server. For the AI we offer three levels: a local open model on that server, so nothing leaves the building; an EU-region provider with zero data retention and no training on the data; or, as in today's demo, column names only.
AI declaration: we built with Claude Code; the demo uses GPT-5 mini on the organisers'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[3:30–3:55]
Honest arithmetic. All 61 Albanian municipalities report the same national indicators, and with Kosovo's 38 on the same performance-grant model, that is 99 municipalities with this exact duty, out of 450-plus in the region.
Only the Excel layouts change between them, and those are learned once. Pilot in Elbasan, then replicate through the project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[3:55–4:35]
Four weeks of mentoring: week one, real exports with a data agreement. Week two, the Performance Unit validates the formulas. Week three, install on a municipal server and test with heads of department. Week four, rebuild last year's report from exports, cell by cell.
After the pilot: logins per directorate, all 52 national indicators, and a verified feed for the city's AI window.
Cost, as estimates: eight to twelve thousand euros to pilot-ready, two to four thousand for setup and training, under a hundred euros a month to run, four to six thousand a year to maintain. With a local AI model, add about two hundred euros a month for a GPU server, or a one-off card for the municipal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[4:35–4:45 · this slide stays up during Q&amp;A]
We are FirmatGroup: [names]. Report once, prove every number.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greisi\StudioProjects\elbasan-pulse\docs\pitch\assets\ai4society-logo.png">    </p:cNvPr>
          <p:cNvPicPr>
            <a:picLocks noChangeAspect="1"/>
          </p:cNvPicPr>
          <p:nvPr/>
        </p:nvPicPr>
        <p:blipFill>
          <a:blip r:embed="rId1"/>
          <a:stretch>
            <a:fillRect/>
          </a:stretch>
        </p:blipFill>
        <p:spPr>
          <a:xfrm>
            <a:off x="457200" y="292608"/>
            <a:ext cx="1005840" cy="581558"/>
          </a:xfrm>
          <a:prstGeom prst="rect">
            <a:avLst/>
          </a:prstGeom>
        </p:spPr>
      </p:pic>
      <p:pic>
        <p:nvPicPr>
          <p:cNvPr id="3" name="Image 1" descr="C:\Users\greisi\StudioProjects\elbasan-pulse\docs\pitch\assets\sportel-icon.png">    </p:cNvPr>
          <p:cNvPicPr>
            <a:picLocks noChangeAspect="1"/>
          </p:cNvPicPr>
          <p:nvPr/>
        </p:nvPicPr>
        <p:blipFill>
          <a:blip r:embed="rId2"/>
          <a:stretch>
            <a:fillRect/>
          </a:stretch>
        </p:blipFill>
        <p:spPr>
          <a:xfrm>
            <a:off x="1691640" y="329184"/>
            <a:ext cx="658368" cy="510235"/>
          </a:xfrm>
          <a:prstGeom prst="rect">
            <a:avLst/>
          </a:prstGeom>
        </p:spPr>
      </p:pic>
      <p:sp>
        <p:nvSpPr>
          <p:cNvPr id="4" name="Text 0"/>
          <p:cNvSpPr txBox="1"/>
          <p:nvPr/>
        </p:nvSpPr>
        <p:spPr>
          <a:xfrm>
            <a:off x="11277295" y="6400800"/>
            <a:ext cx="457200" cy="274320"/>
          </a:xfrm>
          <a:prstGeom prst="rect">
            <a:avLst/>
          </a:prstGeom>
          <a:noFill/>
          <a:ln/>
        </p:spPr>
        <p:txBody>
          <a:bodyPr wrap="square" lIns="0" tIns="0" rIns="0" bIns="0" rtlCol="0" anchor="t"/>
          <a:lstStyle/>
          <a:p>
            <a:pPr algn="r" indent="0" marL="0">
              <a:buNone/>
            </a:pPr>
            <a:r>
              <a:rPr lang="en-US" sz="1100" b="1" dirty="0">
                <a:solidFill>
                  <a:srgbClr val="6B7280"/>
                </a:solidFill>
                <a:latin typeface="Arial" pitchFamily="34" charset="0"/>
                <a:ea typeface="Arial" pitchFamily="34" charset="-122"/>
                <a:cs typeface="Arial" pitchFamily="34" charset="-120"/>
              </a:rPr>
              <a:t>01</a:t>
            </a:r>
            <a:endParaRPr lang="en-US" sz="1100" dirty="0"/>
          </a:p>
        </p:txBody>
      </p:sp>
      <p:sp>
        <p:nvSpPr>
          <p:cNvPr id="5" name="Text 1"/>
          <p:cNvSpPr txBox="1"/>
          <p:nvPr/>
        </p:nvSpPr>
        <p:spPr>
          <a:xfrm>
            <a:off x="457200" y="6400800"/>
            <a:ext cx="4572000"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Sportel · FirmatGroup</a:t>
            </a:r>
            <a:endParaRPr lang="en-US" sz="1100" dirty="0"/>
          </a:p>
        </p:txBody>
      </p:sp>
      <p:sp>
        <p:nvSpPr>
          <p:cNvPr id="6" name="Text 2"/>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800" b="1" dirty="0">
                <a:solidFill>
                  <a:srgbClr val="0B8F8B"/>
                </a:solidFill>
                <a:latin typeface="Arial" pitchFamily="34" charset="0"/>
                <a:ea typeface="Arial" pitchFamily="34" charset="-122"/>
                <a:cs typeface="Arial" pitchFamily="34" charset="-120"/>
              </a:rPr>
              <a:t>Challenge 02 · Bashkia Elbasan</a:t>
            </a:r>
            <a:endParaRPr lang="en-US" sz="1800" dirty="0"/>
          </a:p>
        </p:txBody>
      </p:sp>
      <p:sp>
        <p:nvSpPr>
          <p:cNvPr id="7" name="Text 3"/>
          <p:cNvSpPr txBox="1"/>
          <p:nvPr/>
        </p:nvSpPr>
        <p:spPr>
          <a:xfrm>
            <a:off x="457200" y="1737360"/>
            <a:ext cx="6217920" cy="1280160"/>
          </a:xfrm>
          <a:prstGeom prst="rect">
            <a:avLst/>
          </a:prstGeom>
          <a:noFill/>
          <a:ln/>
        </p:spPr>
        <p:txBody>
          <a:bodyPr wrap="square" lIns="0" tIns="0" rIns="0" bIns="0" rtlCol="0" anchor="t"/>
          <a:lstStyle/>
          <a:p>
            <a:pPr indent="0" marL="0">
              <a:buNone/>
            </a:pPr>
            <a:r>
              <a:rPr lang="en-US" sz="8800" b="1" dirty="0">
                <a:solidFill>
                  <a:srgbClr val="1C2B5A"/>
                </a:solidFill>
                <a:latin typeface="Arial" pitchFamily="34" charset="0"/>
                <a:ea typeface="Arial" pitchFamily="34" charset="-122"/>
                <a:cs typeface="Arial" pitchFamily="34" charset="-120"/>
              </a:rPr>
              <a:t>Sportel</a:t>
            </a:r>
            <a:endParaRPr lang="en-US" sz="8800" dirty="0"/>
          </a:p>
        </p:txBody>
      </p:sp>
      <p:sp>
        <p:nvSpPr>
          <p:cNvPr id="8" name="Text 4"/>
          <p:cNvSpPr txBox="1"/>
          <p:nvPr/>
        </p:nvSpPr>
        <p:spPr>
          <a:xfrm>
            <a:off x="457200" y="3108960"/>
            <a:ext cx="6217920" cy="731520"/>
          </a:xfrm>
          <a:prstGeom prst="rect">
            <a:avLst/>
          </a:prstGeom>
          <a:noFill/>
          <a:ln/>
        </p:spPr>
        <p:txBody>
          <a:bodyPr wrap="square" lIns="0" tIns="0" rIns="0" bIns="0" rtlCol="0" anchor="t"/>
          <a:lstStyle/>
          <a:p>
            <a:pPr indent="0" marL="0">
              <a:buNone/>
            </a:pPr>
            <a:r>
              <a:rPr lang="en-US" sz="3400" dirty="0">
                <a:solidFill>
                  <a:srgbClr val="27376B"/>
                </a:solidFill>
                <a:latin typeface="Arial" pitchFamily="34" charset="0"/>
                <a:ea typeface="Arial" pitchFamily="34" charset="-122"/>
                <a:cs typeface="Arial" pitchFamily="34" charset="-120"/>
              </a:rPr>
              <a:t>Every number, with its proof.</a:t>
            </a:r>
            <a:endParaRPr lang="en-US" sz="3400" dirty="0"/>
          </a:p>
        </p:txBody>
      </p:sp>
      <p:sp>
        <p:nvSpPr>
          <p:cNvPr id="9" name="Text 5"/>
          <p:cNvSpPr txBox="1"/>
          <p:nvPr/>
        </p:nvSpPr>
        <p:spPr>
          <a:xfrm>
            <a:off x="457200" y="3977640"/>
            <a:ext cx="6217920" cy="548640"/>
          </a:xfrm>
          <a:prstGeom prst="rect">
            <a:avLst/>
          </a:prstGeom>
          <a:noFill/>
          <a:ln/>
        </p:spPr>
        <p:txBody>
          <a:bodyPr wrap="square" lIns="0" tIns="0" rIns="0" bIns="0" rtlCol="0" anchor="t"/>
          <a:lstStyle/>
          <a:p>
            <a:pPr indent="0" marL="0">
              <a:buNone/>
            </a:pPr>
            <a:r>
              <a:rPr lang="en-US" sz="2400" b="1" i="1" dirty="0">
                <a:solidFill>
                  <a:srgbClr val="0B8F8B"/>
                </a:solidFill>
                <a:latin typeface="Arial" pitchFamily="34" charset="0"/>
                <a:ea typeface="Arial" pitchFamily="34" charset="-122"/>
                <a:cs typeface="Arial" pitchFamily="34" charset="-120"/>
              </a:rPr>
              <a:t>Report once, prove every number.</a:t>
            </a:r>
            <a:endParaRPr lang="en-US" sz="2400" dirty="0"/>
          </a:p>
        </p:txBody>
      </p:sp>
      <p:sp>
        <p:nvSpPr>
          <p:cNvPr id="10" name="Shape 6"/>
          <p:cNvSpPr/>
          <p:nvPr/>
        </p:nvSpPr>
        <p:spPr>
          <a:xfrm>
            <a:off x="6903720" y="1188720"/>
            <a:ext cx="4846320" cy="3429000"/>
          </a:xfrm>
          <a:prstGeom prst="roundRect">
            <a:avLst>
              <a:gd name="adj" fmla="val 2667"/>
            </a:avLst>
          </a:prstGeom>
          <a:solidFill>
            <a:srgbClr val="FFFFFF"/>
          </a:solidFill>
          <a:ln w="12700">
            <a:solidFill>
              <a:srgbClr val="CBD5E1"/>
            </a:solidFill>
            <a:prstDash val="solid"/>
          </a:ln>
          <a:effectLst>
            <a:outerShdw sx="100000" sy="100000" kx="0" ky="0" algn="bl" rotWithShape="0" blurRad="101600" dist="38100" dir="5400000">
              <a:srgbClr val="1C2B5A">
                <a:alpha val="18000"/>
              </a:srgbClr>
            </a:outerShdw>
          </a:effectLst>
        </p:spPr>
      </p:sp>
      <p:pic>
        <p:nvPicPr>
          <p:cNvPr id="11" name="Image 2" descr="C:\Users\greisi\StudioProjects\elbasan-pulse\docs\pitch\assets\screens\passport.png">    </p:cNvPr>
          <p:cNvPicPr>
            <a:picLocks noChangeAspect="1"/>
          </p:cNvPicPr>
          <p:nvPr/>
        </p:nvPicPr>
        <p:blipFill>
          <a:blip r:embed="rId3"/>
          <a:stretch>
            <a:fillRect/>
          </a:stretch>
        </p:blipFill>
        <p:spPr>
          <a:xfrm>
            <a:off x="6976872" y="1292743"/>
            <a:ext cx="4700016" cy="3220954"/>
          </a:xfrm>
          <a:prstGeom prst="rect">
            <a:avLst/>
          </a:prstGeom>
        </p:spPr>
      </p:pic>
      <p:sp>
        <p:nvSpPr>
          <p:cNvPr id="12" name="Text 7"/>
          <p:cNvSpPr txBox="1"/>
          <p:nvPr/>
        </p:nvSpPr>
        <p:spPr>
          <a:xfrm>
            <a:off x="6903720" y="4709160"/>
            <a:ext cx="4846320" cy="320040"/>
          </a:xfrm>
          <a:prstGeom prst="rect">
            <a:avLst/>
          </a:prstGeom>
          <a:noFill/>
          <a:ln/>
        </p:spPr>
        <p:txBody>
          <a:bodyPr wrap="square" lIns="0" tIns="0" rIns="0" bIns="0" rtlCol="0" anchor="t"/>
          <a:lstStyle/>
          <a:p>
            <a:pPr algn="ctr" indent="0" marL="0">
              <a:buNone/>
            </a:pPr>
            <a:r>
              <a:rPr lang="en-US" sz="1300" i="1" dirty="0">
                <a:solidFill>
                  <a:srgbClr val="6B7280"/>
                </a:solidFill>
                <a:latin typeface="Arial" pitchFamily="34" charset="0"/>
                <a:ea typeface="Arial" pitchFamily="34" charset="-122"/>
                <a:cs typeface="Arial" pitchFamily="34" charset="-120"/>
              </a:rPr>
              <a:t>Indicator passport · synthetic data</a:t>
            </a:r>
            <a:endParaRPr lang="en-US" sz="1300" dirty="0"/>
          </a:p>
        </p:txBody>
      </p:sp>
      <p:sp>
        <p:nvSpPr>
          <p:cNvPr id="13" name="Text 8"/>
          <p:cNvSpPr txBox="1"/>
          <p:nvPr/>
        </p:nvSpPr>
        <p:spPr>
          <a:xfrm>
            <a:off x="457200" y="5394960"/>
            <a:ext cx="10972800" cy="457200"/>
          </a:xfrm>
          <a:prstGeom prst="rect">
            <a:avLst/>
          </a:prstGeom>
          <a:noFill/>
          <a:ln/>
        </p:spPr>
        <p:txBody>
          <a:bodyPr wrap="square" lIns="0" tIns="0" rIns="0" bIns="0" rtlCol="0" anchor="t"/>
          <a:lstStyle/>
          <a:p>
            <a:pPr indent="0" marL="0">
              <a:buNone/>
            </a:pPr>
            <a:r>
              <a:rPr lang="en-US" sz="2000" b="1" dirty="0">
                <a:solidFill>
                  <a:srgbClr val="6B7280"/>
                </a:solidFill>
                <a:latin typeface="Arial" pitchFamily="34" charset="0"/>
                <a:ea typeface="Arial" pitchFamily="34" charset="-122"/>
                <a:cs typeface="Arial" pitchFamily="34" charset="-120"/>
              </a:rPr>
              <a:t>FirmatGroup  ·  AI4Society Hackathon Tirana</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greisi\StudioProjects\elbasan-pulse\docs\pitch\assets\ai4society-logo.png">    </p:cNvPr>
          <p:cNvPicPr>
            <a:picLocks noChangeAspect="1"/>
          </p:cNvPicPr>
          <p:nvPr/>
        </p:nvPicPr>
        <p:blipFill>
          <a:blip r:embed="rId1"/>
          <a:stretch>
            <a:fillRect/>
          </a:stretch>
        </p:blipFill>
        <p:spPr>
          <a:xfrm>
            <a:off x="457200" y="292608"/>
            <a:ext cx="1005840" cy="581558"/>
          </a:xfrm>
          <a:prstGeom prst="rect">
            <a:avLst/>
          </a:prstGeom>
        </p:spPr>
      </p:pic>
      <p:pic>
        <p:nvPicPr>
          <p:cNvPr id="3" name="Image 1" descr="C:\Users\greisi\StudioProjects\elbasan-pulse\docs\pitch\assets\sportel-icon.png">    </p:cNvPr>
          <p:cNvPicPr>
            <a:picLocks noChangeAspect="1"/>
          </p:cNvPicPr>
          <p:nvPr/>
        </p:nvPicPr>
        <p:blipFill>
          <a:blip r:embed="rId2"/>
          <a:stretch>
            <a:fillRect/>
          </a:stretch>
        </p:blipFill>
        <p:spPr>
          <a:xfrm>
            <a:off x="1691640" y="329184"/>
            <a:ext cx="658368" cy="510235"/>
          </a:xfrm>
          <a:prstGeom prst="rect">
            <a:avLst/>
          </a:prstGeom>
        </p:spPr>
      </p:pic>
      <p:sp>
        <p:nvSpPr>
          <p:cNvPr id="4" name="Text 0"/>
          <p:cNvSpPr txBox="1"/>
          <p:nvPr/>
        </p:nvSpPr>
        <p:spPr>
          <a:xfrm>
            <a:off x="11277295" y="6400800"/>
            <a:ext cx="457200" cy="274320"/>
          </a:xfrm>
          <a:prstGeom prst="rect">
            <a:avLst/>
          </a:prstGeom>
          <a:noFill/>
          <a:ln/>
        </p:spPr>
        <p:txBody>
          <a:bodyPr wrap="square" lIns="0" tIns="0" rIns="0" bIns="0" rtlCol="0" anchor="t"/>
          <a:lstStyle/>
          <a:p>
            <a:pPr algn="r" indent="0" marL="0">
              <a:buNone/>
            </a:pPr>
            <a:r>
              <a:rPr lang="en-US" sz="1100" b="1" dirty="0">
                <a:solidFill>
                  <a:srgbClr val="6B7280"/>
                </a:solidFill>
                <a:latin typeface="Arial" pitchFamily="34" charset="0"/>
                <a:ea typeface="Arial" pitchFamily="34" charset="-122"/>
                <a:cs typeface="Arial" pitchFamily="34" charset="-120"/>
              </a:rPr>
              <a:t>02</a:t>
            </a:r>
            <a:endParaRPr lang="en-US" sz="1100" dirty="0"/>
          </a:p>
        </p:txBody>
      </p:sp>
      <p:sp>
        <p:nvSpPr>
          <p:cNvPr id="5" name="Text 1"/>
          <p:cNvSpPr txBox="1"/>
          <p:nvPr/>
        </p:nvSpPr>
        <p:spPr>
          <a:xfrm>
            <a:off x="457200" y="6400800"/>
            <a:ext cx="4572000"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Sportel · FirmatGroup</a:t>
            </a:r>
            <a:endParaRPr lang="en-US" sz="1100" dirty="0"/>
          </a:p>
        </p:txBody>
      </p:sp>
      <p:sp>
        <p:nvSpPr>
          <p:cNvPr id="6" name="Text 2"/>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800" b="1" dirty="0">
                <a:solidFill>
                  <a:srgbClr val="0B8F8B"/>
                </a:solidFill>
                <a:latin typeface="Arial" pitchFamily="34" charset="0"/>
                <a:ea typeface="Arial" pitchFamily="34" charset="-122"/>
                <a:cs typeface="Arial" pitchFamily="34" charset="-120"/>
              </a:rPr>
              <a:t>Problem</a:t>
            </a:r>
            <a:endParaRPr lang="en-US" sz="1800" dirty="0"/>
          </a:p>
        </p:txBody>
      </p:sp>
      <p:sp>
        <p:nvSpPr>
          <p:cNvPr id="7" name="Shape 3"/>
          <p:cNvSpPr/>
          <p:nvPr/>
        </p:nvSpPr>
        <p:spPr>
          <a:xfrm>
            <a:off x="457200" y="1600200"/>
            <a:ext cx="11277295" cy="1600200"/>
          </a:xfrm>
          <a:prstGeom prst="roundRect">
            <a:avLst>
              <a:gd name="adj" fmla="val 8000"/>
            </a:avLst>
          </a:prstGeom>
          <a:solidFill>
            <a:srgbClr val="EFF9F8"/>
          </a:solidFill>
          <a:ln w="12700">
            <a:solidFill>
              <a:srgbClr val="EFF9F8"/>
            </a:solidFill>
            <a:prstDash val="solid"/>
          </a:ln>
        </p:spPr>
      </p:sp>
      <p:sp>
        <p:nvSpPr>
          <p:cNvPr id="8" name="Text 4"/>
          <p:cNvSpPr txBox="1"/>
          <p:nvPr/>
        </p:nvSpPr>
        <p:spPr>
          <a:xfrm>
            <a:off x="822960" y="1783080"/>
            <a:ext cx="10545775" cy="1234440"/>
          </a:xfrm>
          <a:prstGeom prst="rect">
            <a:avLst/>
          </a:prstGeom>
          <a:noFill/>
          <a:ln/>
        </p:spPr>
        <p:txBody>
          <a:bodyPr wrap="square" lIns="0" tIns="0" rIns="0" bIns="0" rtlCol="0" anchor="ctr"/>
          <a:lstStyle/>
          <a:p>
            <a:pPr indent="0" marL="0">
              <a:buNone/>
            </a:pPr>
            <a:r>
              <a:rPr lang="en-US" sz="3600" b="1" dirty="0">
                <a:solidFill>
                  <a:srgbClr val="1C2B5A"/>
                </a:solidFill>
                <a:latin typeface="Arial" pitchFamily="34" charset="0"/>
                <a:ea typeface="Arial" pitchFamily="34" charset="-122"/>
                <a:cs typeface="Arial" pitchFamily="34" charset="-120"/>
              </a:rPr>
              <a:t>“How much of our waste cost does the cleaning fee cover?”</a:t>
            </a:r>
            <a:endParaRPr lang="en-US" sz="3600" dirty="0"/>
          </a:p>
        </p:txBody>
      </p:sp>
      <p:sp>
        <p:nvSpPr>
          <p:cNvPr id="9" name="Shape 5"/>
          <p:cNvSpPr/>
          <p:nvPr/>
        </p:nvSpPr>
        <p:spPr>
          <a:xfrm>
            <a:off x="457200" y="3474720"/>
            <a:ext cx="3639312" cy="1737360"/>
          </a:xfrm>
          <a:prstGeom prst="roundRect">
            <a:avLst>
              <a:gd name="adj" fmla="val 7368"/>
            </a:avLst>
          </a:prstGeom>
          <a:solidFill>
            <a:srgbClr val="F1F5FB"/>
          </a:solidFill>
          <a:ln w="12700">
            <a:solidFill>
              <a:srgbClr val="F1F5FB"/>
            </a:solidFill>
            <a:prstDash val="solid"/>
          </a:ln>
        </p:spPr>
      </p:sp>
      <p:sp>
        <p:nvSpPr>
          <p:cNvPr id="10" name="Text 6"/>
          <p:cNvSpPr txBox="1"/>
          <p:nvPr/>
        </p:nvSpPr>
        <p:spPr>
          <a:xfrm>
            <a:off x="777240" y="3611880"/>
            <a:ext cx="1280160" cy="1463040"/>
          </a:xfrm>
          <a:prstGeom prst="rect">
            <a:avLst/>
          </a:prstGeom>
          <a:noFill/>
          <a:ln/>
        </p:spPr>
        <p:txBody>
          <a:bodyPr wrap="square" lIns="0" tIns="0" rIns="0" bIns="0" rtlCol="0" anchor="ctr"/>
          <a:lstStyle/>
          <a:p>
            <a:pPr indent="0" marL="0">
              <a:buNone/>
            </a:pPr>
            <a:r>
              <a:rPr lang="en-US" sz="8000" b="1" dirty="0">
                <a:solidFill>
                  <a:srgbClr val="0B8F8B"/>
                </a:solidFill>
                <a:latin typeface="Arial" pitchFamily="34" charset="0"/>
                <a:ea typeface="Arial" pitchFamily="34" charset="-122"/>
                <a:cs typeface="Arial" pitchFamily="34" charset="-120"/>
              </a:rPr>
              <a:t>2</a:t>
            </a:r>
            <a:endParaRPr lang="en-US" sz="8000" dirty="0"/>
          </a:p>
        </p:txBody>
      </p:sp>
      <p:sp>
        <p:nvSpPr>
          <p:cNvPr id="11" name="Text 7"/>
          <p:cNvSpPr txBox="1"/>
          <p:nvPr/>
        </p:nvSpPr>
        <p:spPr>
          <a:xfrm>
            <a:off x="1920240" y="3611880"/>
            <a:ext cx="2103120" cy="1463040"/>
          </a:xfrm>
          <a:prstGeom prst="rect">
            <a:avLst/>
          </a:prstGeom>
          <a:noFill/>
          <a:ln/>
        </p:spPr>
        <p:txBody>
          <a:bodyPr wrap="square" lIns="0" tIns="0" rIns="0" bIns="0" rtlCol="0" anchor="ctr"/>
          <a:lstStyle/>
          <a:p>
            <a:pPr indent="0" marL="0">
              <a:buNone/>
            </a:pPr>
            <a:r>
              <a:rPr lang="en-US" sz="2400" b="1" dirty="0">
                <a:solidFill>
                  <a:srgbClr val="1C2B5A"/>
                </a:solidFill>
                <a:latin typeface="Arial" pitchFamily="34" charset="0"/>
                <a:ea typeface="Arial" pitchFamily="34" charset="-122"/>
                <a:cs typeface="Arial" pitchFamily="34" charset="-120"/>
              </a:rPr>
              <a:t>directorates</a:t>
            </a:r>
            <a:endParaRPr lang="en-US" sz="2400" dirty="0"/>
          </a:p>
        </p:txBody>
      </p:sp>
      <p:sp>
        <p:nvSpPr>
          <p:cNvPr id="12" name="Shape 8"/>
          <p:cNvSpPr/>
          <p:nvPr/>
        </p:nvSpPr>
        <p:spPr>
          <a:xfrm>
            <a:off x="4279392" y="3474720"/>
            <a:ext cx="3639312" cy="1737360"/>
          </a:xfrm>
          <a:prstGeom prst="roundRect">
            <a:avLst>
              <a:gd name="adj" fmla="val 7368"/>
            </a:avLst>
          </a:prstGeom>
          <a:solidFill>
            <a:srgbClr val="F1F5FB"/>
          </a:solidFill>
          <a:ln w="12700">
            <a:solidFill>
              <a:srgbClr val="F1F5FB"/>
            </a:solidFill>
            <a:prstDash val="solid"/>
          </a:ln>
        </p:spPr>
      </p:sp>
      <p:sp>
        <p:nvSpPr>
          <p:cNvPr id="13" name="Text 9"/>
          <p:cNvSpPr txBox="1"/>
          <p:nvPr/>
        </p:nvSpPr>
        <p:spPr>
          <a:xfrm>
            <a:off x="4599432" y="3611880"/>
            <a:ext cx="1280160" cy="1463040"/>
          </a:xfrm>
          <a:prstGeom prst="rect">
            <a:avLst/>
          </a:prstGeom>
          <a:noFill/>
          <a:ln/>
        </p:spPr>
        <p:txBody>
          <a:bodyPr wrap="square" lIns="0" tIns="0" rIns="0" bIns="0" rtlCol="0" anchor="ctr"/>
          <a:lstStyle/>
          <a:p>
            <a:pPr indent="0" marL="0">
              <a:buNone/>
            </a:pPr>
            <a:r>
              <a:rPr lang="en-US" sz="8000" b="1" dirty="0">
                <a:solidFill>
                  <a:srgbClr val="0B8F8B"/>
                </a:solidFill>
                <a:latin typeface="Arial" pitchFamily="34" charset="0"/>
                <a:ea typeface="Arial" pitchFamily="34" charset="-122"/>
                <a:cs typeface="Arial" pitchFamily="34" charset="-120"/>
              </a:rPr>
              <a:t>2</a:t>
            </a:r>
            <a:endParaRPr lang="en-US" sz="8000" dirty="0"/>
          </a:p>
        </p:txBody>
      </p:sp>
      <p:sp>
        <p:nvSpPr>
          <p:cNvPr id="14" name="Text 10"/>
          <p:cNvSpPr txBox="1"/>
          <p:nvPr/>
        </p:nvSpPr>
        <p:spPr>
          <a:xfrm>
            <a:off x="5742432" y="3611880"/>
            <a:ext cx="2103120" cy="1463040"/>
          </a:xfrm>
          <a:prstGeom prst="rect">
            <a:avLst/>
          </a:prstGeom>
          <a:noFill/>
          <a:ln/>
        </p:spPr>
        <p:txBody>
          <a:bodyPr wrap="square" lIns="0" tIns="0" rIns="0" bIns="0" rtlCol="0" anchor="ctr"/>
          <a:lstStyle/>
          <a:p>
            <a:pPr indent="0" marL="0">
              <a:buNone/>
            </a:pPr>
            <a:r>
              <a:rPr lang="en-US" sz="2400" b="1" dirty="0">
                <a:solidFill>
                  <a:srgbClr val="1C2B5A"/>
                </a:solidFill>
                <a:latin typeface="Arial" pitchFamily="34" charset="0"/>
                <a:ea typeface="Arial" pitchFamily="34" charset="-122"/>
                <a:cs typeface="Arial" pitchFamily="34" charset="-120"/>
              </a:rPr>
              <a:t>Excel files</a:t>
            </a:r>
            <a:endParaRPr lang="en-US" sz="2400" dirty="0"/>
          </a:p>
        </p:txBody>
      </p:sp>
      <p:sp>
        <p:nvSpPr>
          <p:cNvPr id="15" name="Shape 11"/>
          <p:cNvSpPr/>
          <p:nvPr/>
        </p:nvSpPr>
        <p:spPr>
          <a:xfrm>
            <a:off x="8101584" y="3474720"/>
            <a:ext cx="3639312" cy="1737360"/>
          </a:xfrm>
          <a:prstGeom prst="roundRect">
            <a:avLst>
              <a:gd name="adj" fmla="val 7368"/>
            </a:avLst>
          </a:prstGeom>
          <a:solidFill>
            <a:srgbClr val="1C2B5A"/>
          </a:solidFill>
          <a:ln w="12700">
            <a:solidFill>
              <a:srgbClr val="1C2B5A"/>
            </a:solidFill>
            <a:prstDash val="solid"/>
          </a:ln>
        </p:spPr>
      </p:sp>
      <p:sp>
        <p:nvSpPr>
          <p:cNvPr id="16" name="Text 12"/>
          <p:cNvSpPr txBox="1"/>
          <p:nvPr/>
        </p:nvSpPr>
        <p:spPr>
          <a:xfrm>
            <a:off x="8421624" y="3611880"/>
            <a:ext cx="1280160" cy="1463040"/>
          </a:xfrm>
          <a:prstGeom prst="rect">
            <a:avLst/>
          </a:prstGeom>
          <a:noFill/>
          <a:ln/>
        </p:spPr>
        <p:txBody>
          <a:bodyPr wrap="square" lIns="0" tIns="0" rIns="0" bIns="0" rtlCol="0" anchor="ctr"/>
          <a:lstStyle/>
          <a:p>
            <a:pPr indent="0" marL="0">
              <a:buNone/>
            </a:pPr>
            <a:r>
              <a:rPr lang="en-US" sz="8000" b="1" dirty="0">
                <a:solidFill>
                  <a:srgbClr val="7CE8E3"/>
                </a:solidFill>
                <a:latin typeface="Arial" pitchFamily="34" charset="0"/>
                <a:ea typeface="Arial" pitchFamily="34" charset="-122"/>
                <a:cs typeface="Arial" pitchFamily="34" charset="-120"/>
              </a:rPr>
              <a:t>0</a:t>
            </a:r>
            <a:endParaRPr lang="en-US" sz="8000" dirty="0"/>
          </a:p>
        </p:txBody>
      </p:sp>
      <p:sp>
        <p:nvSpPr>
          <p:cNvPr id="17" name="Text 13"/>
          <p:cNvSpPr txBox="1"/>
          <p:nvPr/>
        </p:nvSpPr>
        <p:spPr>
          <a:xfrm>
            <a:off x="9564624" y="3611880"/>
            <a:ext cx="2103120" cy="146304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proof of source</a:t>
            </a:r>
            <a:endParaRPr lang="en-US" sz="2400" dirty="0"/>
          </a:p>
        </p:txBody>
      </p:sp>
      <p:sp>
        <p:nvSpPr>
          <p:cNvPr id="18" name="Text 14"/>
          <p:cNvSpPr txBox="1"/>
          <p:nvPr/>
        </p:nvSpPr>
        <p:spPr>
          <a:xfrm>
            <a:off x="457200" y="5532120"/>
            <a:ext cx="11277295" cy="457200"/>
          </a:xfrm>
          <a:prstGeom prst="rect">
            <a:avLst/>
          </a:prstGeom>
          <a:noFill/>
          <a:ln/>
        </p:spPr>
        <p:txBody>
          <a:bodyPr wrap="square" lIns="0" tIns="0" rIns="0" bIns="0" rtlCol="0" anchor="t"/>
          <a:lstStyle/>
          <a:p>
            <a:pPr indent="0" marL="0">
              <a:buNone/>
            </a:pPr>
            <a:r>
              <a:rPr lang="en-US" sz="2400" dirty="0">
                <a:solidFill>
                  <a:srgbClr val="6B7280"/>
                </a:solidFill>
                <a:latin typeface="Arial" pitchFamily="34" charset="0"/>
                <a:ea typeface="Arial" pitchFamily="34" charset="-122"/>
                <a:cs typeface="Arial" pitchFamily="34" charset="-120"/>
              </a:rPr>
              <a:t>National indicators: collected once a year.</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greisi\StudioProjects\elbasan-pulse\docs\pitch\assets\ai4society-logo.png">    </p:cNvPr>
          <p:cNvPicPr>
            <a:picLocks noChangeAspect="1"/>
          </p:cNvPicPr>
          <p:nvPr/>
        </p:nvPicPr>
        <p:blipFill>
          <a:blip r:embed="rId1"/>
          <a:stretch>
            <a:fillRect/>
          </a:stretch>
        </p:blipFill>
        <p:spPr>
          <a:xfrm>
            <a:off x="457200" y="292608"/>
            <a:ext cx="1005840" cy="581558"/>
          </a:xfrm>
          <a:prstGeom prst="rect">
            <a:avLst/>
          </a:prstGeom>
        </p:spPr>
      </p:pic>
      <p:pic>
        <p:nvPicPr>
          <p:cNvPr id="3" name="Image 1" descr="C:\Users\greisi\StudioProjects\elbasan-pulse\docs\pitch\assets\sportel-icon.png">    </p:cNvPr>
          <p:cNvPicPr>
            <a:picLocks noChangeAspect="1"/>
          </p:cNvPicPr>
          <p:nvPr/>
        </p:nvPicPr>
        <p:blipFill>
          <a:blip r:embed="rId2"/>
          <a:stretch>
            <a:fillRect/>
          </a:stretch>
        </p:blipFill>
        <p:spPr>
          <a:xfrm>
            <a:off x="1691640" y="329184"/>
            <a:ext cx="658368" cy="510235"/>
          </a:xfrm>
          <a:prstGeom prst="rect">
            <a:avLst/>
          </a:prstGeom>
        </p:spPr>
      </p:pic>
      <p:sp>
        <p:nvSpPr>
          <p:cNvPr id="4" name="Text 0"/>
          <p:cNvSpPr txBox="1"/>
          <p:nvPr/>
        </p:nvSpPr>
        <p:spPr>
          <a:xfrm>
            <a:off x="11277295" y="6400800"/>
            <a:ext cx="457200" cy="274320"/>
          </a:xfrm>
          <a:prstGeom prst="rect">
            <a:avLst/>
          </a:prstGeom>
          <a:noFill/>
          <a:ln/>
        </p:spPr>
        <p:txBody>
          <a:bodyPr wrap="square" lIns="0" tIns="0" rIns="0" bIns="0" rtlCol="0" anchor="t"/>
          <a:lstStyle/>
          <a:p>
            <a:pPr algn="r" indent="0" marL="0">
              <a:buNone/>
            </a:pPr>
            <a:r>
              <a:rPr lang="en-US" sz="1100" b="1" dirty="0">
                <a:solidFill>
                  <a:srgbClr val="6B7280"/>
                </a:solidFill>
                <a:latin typeface="Arial" pitchFamily="34" charset="0"/>
                <a:ea typeface="Arial" pitchFamily="34" charset="-122"/>
                <a:cs typeface="Arial" pitchFamily="34" charset="-120"/>
              </a:rPr>
              <a:t>03</a:t>
            </a:r>
            <a:endParaRPr lang="en-US" sz="1100" dirty="0"/>
          </a:p>
        </p:txBody>
      </p:sp>
      <p:sp>
        <p:nvSpPr>
          <p:cNvPr id="5" name="Text 1"/>
          <p:cNvSpPr txBox="1"/>
          <p:nvPr/>
        </p:nvSpPr>
        <p:spPr>
          <a:xfrm>
            <a:off x="457200" y="6400800"/>
            <a:ext cx="4572000"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Sportel · FirmatGroup</a:t>
            </a:r>
            <a:endParaRPr lang="en-US" sz="1100" dirty="0"/>
          </a:p>
        </p:txBody>
      </p:sp>
      <p:sp>
        <p:nvSpPr>
          <p:cNvPr id="6" name="Text 2"/>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800" b="1" dirty="0">
                <a:solidFill>
                  <a:srgbClr val="0B8F8B"/>
                </a:solidFill>
                <a:latin typeface="Arial" pitchFamily="34" charset="0"/>
                <a:ea typeface="Arial" pitchFamily="34" charset="-122"/>
                <a:cs typeface="Arial" pitchFamily="34" charset="-120"/>
              </a:rPr>
              <a:t>Solution · one flow · synthetic demo data</a:t>
            </a:r>
            <a:endParaRPr lang="en-US" sz="1800" dirty="0"/>
          </a:p>
        </p:txBody>
      </p:sp>
      <p:sp>
        <p:nvSpPr>
          <p:cNvPr id="7" name="Text 3"/>
          <p:cNvSpPr txBox="1"/>
          <p:nvPr/>
        </p:nvSpPr>
        <p:spPr>
          <a:xfrm>
            <a:off x="457200" y="1463040"/>
            <a:ext cx="11277295" cy="822960"/>
          </a:xfrm>
          <a:prstGeom prst="rect">
            <a:avLst/>
          </a:prstGeom>
          <a:noFill/>
          <a:ln/>
        </p:spPr>
        <p:txBody>
          <a:bodyPr wrap="square" lIns="0" tIns="0" rIns="0" bIns="0" rtlCol="0" anchor="t"/>
          <a:lstStyle/>
          <a:p>
            <a:pPr indent="0" marL="0">
              <a:buNone/>
            </a:pPr>
            <a:r>
              <a:rPr lang="en-US" sz="4000" b="1" dirty="0">
                <a:solidFill>
                  <a:srgbClr val="1C2B5A"/>
                </a:solidFill>
                <a:latin typeface="Arial" pitchFamily="34" charset="0"/>
                <a:ea typeface="Arial" pitchFamily="34" charset="-122"/>
                <a:cs typeface="Arial" pitchFamily="34" charset="-120"/>
              </a:rPr>
              <a:t>From “no answer” to proof</a:t>
            </a:r>
            <a:endParaRPr lang="en-US" sz="4000" dirty="0"/>
          </a:p>
        </p:txBody>
      </p:sp>
      <p:sp>
        <p:nvSpPr>
          <p:cNvPr id="8" name="Shape 4"/>
          <p:cNvSpPr/>
          <p:nvPr/>
        </p:nvSpPr>
        <p:spPr>
          <a:xfrm>
            <a:off x="457200" y="2331720"/>
            <a:ext cx="2651760" cy="502920"/>
          </a:xfrm>
          <a:prstGeom prst="roundRect">
            <a:avLst>
              <a:gd name="adj" fmla="val 49091"/>
            </a:avLst>
          </a:prstGeom>
          <a:solidFill>
            <a:srgbClr val="FFF1E8"/>
          </a:solidFill>
          <a:ln w="19050">
            <a:solidFill>
              <a:srgbClr val="C2410C"/>
            </a:solidFill>
            <a:prstDash val="solid"/>
          </a:ln>
        </p:spPr>
      </p:sp>
      <p:sp>
        <p:nvSpPr>
          <p:cNvPr id="9" name="Text 5"/>
          <p:cNvSpPr txBox="1"/>
          <p:nvPr/>
        </p:nvSpPr>
        <p:spPr>
          <a:xfrm>
            <a:off x="457200" y="2331720"/>
            <a:ext cx="2651760" cy="502920"/>
          </a:xfrm>
          <a:prstGeom prst="rect">
            <a:avLst/>
          </a:prstGeom>
          <a:noFill/>
          <a:ln/>
        </p:spPr>
        <p:txBody>
          <a:bodyPr wrap="square" lIns="0" tIns="0" rIns="0" bIns="0" rtlCol="0" anchor="ctr"/>
          <a:lstStyle/>
          <a:p>
            <a:pPr algn="ctr" indent="0" marL="0">
              <a:buNone/>
            </a:pPr>
            <a:r>
              <a:rPr lang="en-US" sz="1800" b="1" spc="100" kern="0" dirty="0">
                <a:solidFill>
                  <a:srgbClr val="C2410C"/>
                </a:solidFill>
                <a:latin typeface="Arial" pitchFamily="34" charset="0"/>
                <a:ea typeface="Arial" pitchFamily="34" charset="-122"/>
                <a:cs typeface="Arial" pitchFamily="34" charset="-120"/>
              </a:rPr>
              <a:t>NOT ANSWERABLE</a:t>
            </a:r>
            <a:endParaRPr lang="en-US" sz="1800" dirty="0"/>
          </a:p>
        </p:txBody>
      </p:sp>
      <p:sp>
        <p:nvSpPr>
          <p:cNvPr id="10" name="Shape 6"/>
          <p:cNvSpPr/>
          <p:nvPr/>
        </p:nvSpPr>
        <p:spPr>
          <a:xfrm>
            <a:off x="3118104" y="2450592"/>
            <a:ext cx="173736" cy="274320"/>
          </a:xfrm>
          <a:prstGeom prst="rightArrow">
            <a:avLst/>
          </a:prstGeom>
          <a:solidFill>
            <a:srgbClr val="6B7280"/>
          </a:solidFill>
          <a:ln w="12700">
            <a:solidFill>
              <a:srgbClr val="6B7280"/>
            </a:solidFill>
            <a:prstDash val="solid"/>
          </a:ln>
        </p:spPr>
      </p:sp>
      <p:sp>
        <p:nvSpPr>
          <p:cNvPr id="11" name="Shape 7"/>
          <p:cNvSpPr/>
          <p:nvPr/>
        </p:nvSpPr>
        <p:spPr>
          <a:xfrm>
            <a:off x="3300984" y="2331720"/>
            <a:ext cx="2651760" cy="502920"/>
          </a:xfrm>
          <a:prstGeom prst="roundRect">
            <a:avLst>
              <a:gd name="adj" fmla="val 49091"/>
            </a:avLst>
          </a:prstGeom>
          <a:solidFill>
            <a:srgbClr val="FEF3C7"/>
          </a:solidFill>
          <a:ln w="19050">
            <a:solidFill>
              <a:srgbClr val="B45309"/>
            </a:solidFill>
            <a:prstDash val="solid"/>
          </a:ln>
        </p:spPr>
      </p:sp>
      <p:sp>
        <p:nvSpPr>
          <p:cNvPr id="12" name="Text 8"/>
          <p:cNvSpPr txBox="1"/>
          <p:nvPr/>
        </p:nvSpPr>
        <p:spPr>
          <a:xfrm>
            <a:off x="3300984" y="2331720"/>
            <a:ext cx="2651760" cy="502920"/>
          </a:xfrm>
          <a:prstGeom prst="rect">
            <a:avLst/>
          </a:prstGeom>
          <a:noFill/>
          <a:ln/>
        </p:spPr>
        <p:txBody>
          <a:bodyPr wrap="square" lIns="0" tIns="0" rIns="0" bIns="0" rtlCol="0" anchor="ctr"/>
          <a:lstStyle/>
          <a:p>
            <a:pPr algn="ctr" indent="0" marL="0">
              <a:buNone/>
            </a:pPr>
            <a:r>
              <a:rPr lang="en-US" sz="1800" b="1" spc="100" kern="0" dirty="0">
                <a:solidFill>
                  <a:srgbClr val="B45309"/>
                </a:solidFill>
                <a:latin typeface="Arial" pitchFamily="34" charset="0"/>
                <a:ea typeface="Arial" pitchFamily="34" charset="-122"/>
                <a:cs typeface="Arial" pitchFamily="34" charset="-120"/>
              </a:rPr>
              <a:t>UPLOAD EXCEL</a:t>
            </a:r>
            <a:endParaRPr lang="en-US" sz="1800" dirty="0"/>
          </a:p>
        </p:txBody>
      </p:sp>
      <p:sp>
        <p:nvSpPr>
          <p:cNvPr id="13" name="Shape 9"/>
          <p:cNvSpPr/>
          <p:nvPr/>
        </p:nvSpPr>
        <p:spPr>
          <a:xfrm>
            <a:off x="5961888" y="2450592"/>
            <a:ext cx="173736" cy="274320"/>
          </a:xfrm>
          <a:prstGeom prst="rightArrow">
            <a:avLst/>
          </a:prstGeom>
          <a:solidFill>
            <a:srgbClr val="6B7280"/>
          </a:solidFill>
          <a:ln w="12700">
            <a:solidFill>
              <a:srgbClr val="6B7280"/>
            </a:solidFill>
            <a:prstDash val="solid"/>
          </a:ln>
        </p:spPr>
      </p:sp>
      <p:sp>
        <p:nvSpPr>
          <p:cNvPr id="14" name="Shape 10"/>
          <p:cNvSpPr/>
          <p:nvPr/>
        </p:nvSpPr>
        <p:spPr>
          <a:xfrm>
            <a:off x="6144768" y="2331720"/>
            <a:ext cx="2651760" cy="502920"/>
          </a:xfrm>
          <a:prstGeom prst="roundRect">
            <a:avLst>
              <a:gd name="adj" fmla="val 49091"/>
            </a:avLst>
          </a:prstGeom>
          <a:solidFill>
            <a:srgbClr val="F1F5FB"/>
          </a:solidFill>
          <a:ln w="19050">
            <a:solidFill>
              <a:srgbClr val="1C2B5A"/>
            </a:solidFill>
            <a:prstDash val="solid"/>
          </a:ln>
        </p:spPr>
      </p:sp>
      <p:sp>
        <p:nvSpPr>
          <p:cNvPr id="15" name="Text 11"/>
          <p:cNvSpPr txBox="1"/>
          <p:nvPr/>
        </p:nvSpPr>
        <p:spPr>
          <a:xfrm>
            <a:off x="6144768" y="2331720"/>
            <a:ext cx="2651760" cy="502920"/>
          </a:xfrm>
          <a:prstGeom prst="rect">
            <a:avLst/>
          </a:prstGeom>
          <a:noFill/>
          <a:ln/>
        </p:spPr>
        <p:txBody>
          <a:bodyPr wrap="square" lIns="0" tIns="0" rIns="0" bIns="0" rtlCol="0" anchor="ctr"/>
          <a:lstStyle/>
          <a:p>
            <a:pPr algn="ctr" indent="0" marL="0">
              <a:buNone/>
            </a:pPr>
            <a:r>
              <a:rPr lang="en-US" sz="1800" b="1" spc="100" kern="0" dirty="0">
                <a:solidFill>
                  <a:srgbClr val="1C2B5A"/>
                </a:solidFill>
                <a:latin typeface="Arial" pitchFamily="34" charset="0"/>
                <a:ea typeface="Arial" pitchFamily="34" charset="-122"/>
                <a:cs typeface="Arial" pitchFamily="34" charset="-120"/>
              </a:rPr>
              <a:t>RECONCILED</a:t>
            </a:r>
            <a:endParaRPr lang="en-US" sz="1800" dirty="0"/>
          </a:p>
        </p:txBody>
      </p:sp>
      <p:sp>
        <p:nvSpPr>
          <p:cNvPr id="16" name="Shape 12"/>
          <p:cNvSpPr/>
          <p:nvPr/>
        </p:nvSpPr>
        <p:spPr>
          <a:xfrm>
            <a:off x="8805672" y="2450592"/>
            <a:ext cx="173736" cy="274320"/>
          </a:xfrm>
          <a:prstGeom prst="rightArrow">
            <a:avLst/>
          </a:prstGeom>
          <a:solidFill>
            <a:srgbClr val="6B7280"/>
          </a:solidFill>
          <a:ln w="12700">
            <a:solidFill>
              <a:srgbClr val="6B7280"/>
            </a:solidFill>
            <a:prstDash val="solid"/>
          </a:ln>
        </p:spPr>
      </p:sp>
      <p:sp>
        <p:nvSpPr>
          <p:cNvPr id="17" name="Shape 13"/>
          <p:cNvSpPr/>
          <p:nvPr/>
        </p:nvSpPr>
        <p:spPr>
          <a:xfrm>
            <a:off x="8988552" y="2331720"/>
            <a:ext cx="2651760" cy="502920"/>
          </a:xfrm>
          <a:prstGeom prst="roundRect">
            <a:avLst>
              <a:gd name="adj" fmla="val 49091"/>
            </a:avLst>
          </a:prstGeom>
          <a:solidFill>
            <a:srgbClr val="E8F7EE"/>
          </a:solidFill>
          <a:ln w="19050">
            <a:solidFill>
              <a:srgbClr val="15803D"/>
            </a:solidFill>
            <a:prstDash val="solid"/>
          </a:ln>
        </p:spPr>
      </p:sp>
      <p:sp>
        <p:nvSpPr>
          <p:cNvPr id="18" name="Text 14"/>
          <p:cNvSpPr txBox="1"/>
          <p:nvPr/>
        </p:nvSpPr>
        <p:spPr>
          <a:xfrm>
            <a:off x="8988552" y="2331720"/>
            <a:ext cx="2651760" cy="502920"/>
          </a:xfrm>
          <a:prstGeom prst="rect">
            <a:avLst/>
          </a:prstGeom>
          <a:noFill/>
          <a:ln/>
        </p:spPr>
        <p:txBody>
          <a:bodyPr wrap="square" lIns="0" tIns="0" rIns="0" bIns="0" rtlCol="0" anchor="ctr"/>
          <a:lstStyle/>
          <a:p>
            <a:pPr algn="ctr" indent="0" marL="0">
              <a:buNone/>
            </a:pPr>
            <a:r>
              <a:rPr lang="en-US" sz="1800" b="1" spc="100" kern="0" dirty="0">
                <a:solidFill>
                  <a:srgbClr val="15803D"/>
                </a:solidFill>
                <a:latin typeface="Arial" pitchFamily="34" charset="0"/>
                <a:ea typeface="Arial" pitchFamily="34" charset="-122"/>
                <a:cs typeface="Arial" pitchFamily="34" charset="-120"/>
              </a:rPr>
              <a:t>VERIFIED</a:t>
            </a:r>
            <a:endParaRPr lang="en-US" sz="1800" dirty="0"/>
          </a:p>
        </p:txBody>
      </p:sp>
      <p:sp>
        <p:nvSpPr>
          <p:cNvPr id="19" name="Shape 15"/>
          <p:cNvSpPr/>
          <p:nvPr/>
        </p:nvSpPr>
        <p:spPr>
          <a:xfrm>
            <a:off x="457200" y="3063240"/>
            <a:ext cx="5504688" cy="2743200"/>
          </a:xfrm>
          <a:prstGeom prst="roundRect">
            <a:avLst>
              <a:gd name="adj" fmla="val 3333"/>
            </a:avLst>
          </a:prstGeom>
          <a:solidFill>
            <a:srgbClr val="FFFFFF"/>
          </a:solidFill>
          <a:ln w="12700">
            <a:solidFill>
              <a:srgbClr val="CBD5E1"/>
            </a:solidFill>
            <a:prstDash val="solid"/>
          </a:ln>
          <a:effectLst>
            <a:outerShdw sx="100000" sy="100000" kx="0" ky="0" algn="bl" rotWithShape="0" blurRad="101600" dist="38100" dir="5400000">
              <a:srgbClr val="1C2B5A">
                <a:alpha val="18000"/>
              </a:srgbClr>
            </a:outerShdw>
          </a:effectLst>
        </p:spPr>
      </p:sp>
      <p:pic>
        <p:nvPicPr>
          <p:cNvPr id="20" name="Image 2" descr="C:\Users\greisi\StudioProjects\elbasan-pulse\docs\pitch\assets\screens\gap.png">    </p:cNvPr>
          <p:cNvPicPr>
            <a:picLocks noChangeAspect="1"/>
          </p:cNvPicPr>
          <p:nvPr/>
        </p:nvPicPr>
        <p:blipFill>
          <a:blip r:embed="rId3"/>
          <a:stretch>
            <a:fillRect/>
          </a:stretch>
        </p:blipFill>
        <p:spPr>
          <a:xfrm>
            <a:off x="964340" y="3154680"/>
            <a:ext cx="4490407" cy="2560320"/>
          </a:xfrm>
          <a:prstGeom prst="rect">
            <a:avLst/>
          </a:prstGeom>
        </p:spPr>
      </p:pic>
      <p:sp>
        <p:nvSpPr>
          <p:cNvPr id="21" name="Shape 16"/>
          <p:cNvSpPr/>
          <p:nvPr/>
        </p:nvSpPr>
        <p:spPr>
          <a:xfrm>
            <a:off x="6227064" y="3063240"/>
            <a:ext cx="5504688" cy="2743200"/>
          </a:xfrm>
          <a:prstGeom prst="roundRect">
            <a:avLst>
              <a:gd name="adj" fmla="val 3333"/>
            </a:avLst>
          </a:prstGeom>
          <a:solidFill>
            <a:srgbClr val="FFFFFF"/>
          </a:solidFill>
          <a:ln w="12700">
            <a:solidFill>
              <a:srgbClr val="CBD5E1"/>
            </a:solidFill>
            <a:prstDash val="solid"/>
          </a:ln>
          <a:effectLst>
            <a:outerShdw sx="100000" sy="100000" kx="0" ky="0" algn="bl" rotWithShape="0" blurRad="101600" dist="38100" dir="5400000">
              <a:srgbClr val="1C2B5A">
                <a:alpha val="18000"/>
              </a:srgbClr>
            </a:outerShdw>
          </a:effectLst>
        </p:spPr>
      </p:sp>
      <p:pic>
        <p:nvPicPr>
          <p:cNvPr id="22" name="Image 3" descr="C:\Users\greisi\StudioProjects\elbasan-pulse\docs\pitch\assets\screens\verified.png">    </p:cNvPr>
          <p:cNvPicPr>
            <a:picLocks noChangeAspect="1"/>
          </p:cNvPicPr>
          <p:nvPr/>
        </p:nvPicPr>
        <p:blipFill>
          <a:blip r:embed="rId4"/>
          <a:stretch>
            <a:fillRect/>
          </a:stretch>
        </p:blipFill>
        <p:spPr>
          <a:xfrm>
            <a:off x="6318504" y="3454507"/>
            <a:ext cx="5321808" cy="1960666"/>
          </a:xfrm>
          <a:prstGeom prst="rect">
            <a:avLst/>
          </a:prstGeom>
        </p:spPr>
      </p:pic>
      <p:sp>
        <p:nvSpPr>
          <p:cNvPr id="23" name="Text 17"/>
          <p:cNvSpPr txBox="1"/>
          <p:nvPr/>
        </p:nvSpPr>
        <p:spPr>
          <a:xfrm>
            <a:off x="457200" y="5897880"/>
            <a:ext cx="5504688" cy="365760"/>
          </a:xfrm>
          <a:prstGeom prst="rect">
            <a:avLst/>
          </a:prstGeom>
          <a:noFill/>
          <a:ln/>
        </p:spPr>
        <p:txBody>
          <a:bodyPr wrap="square" lIns="0" tIns="0" rIns="0" bIns="0" rtlCol="0" anchor="t"/>
          <a:lstStyle/>
          <a:p>
            <a:pPr algn="ctr" indent="0" marL="0">
              <a:buNone/>
            </a:pPr>
            <a:r>
              <a:rPr lang="en-US" sz="1800" b="1" dirty="0">
                <a:solidFill>
                  <a:srgbClr val="C2410C"/>
                </a:solidFill>
                <a:latin typeface="Arial" pitchFamily="34" charset="0"/>
                <a:ea typeface="Arial" pitchFamily="34" charset="-122"/>
                <a:cs typeface="Arial" pitchFamily="34" charset="-120"/>
              </a:rPr>
              <a:t>Before: names who owes the data</a:t>
            </a:r>
            <a:endParaRPr lang="en-US" sz="1800" dirty="0"/>
          </a:p>
        </p:txBody>
      </p:sp>
      <p:sp>
        <p:nvSpPr>
          <p:cNvPr id="24" name="Text 18"/>
          <p:cNvSpPr txBox="1"/>
          <p:nvPr/>
        </p:nvSpPr>
        <p:spPr>
          <a:xfrm>
            <a:off x="6227064" y="5897880"/>
            <a:ext cx="5504688" cy="365760"/>
          </a:xfrm>
          <a:prstGeom prst="rect">
            <a:avLst/>
          </a:prstGeom>
          <a:noFill/>
          <a:ln/>
        </p:spPr>
        <p:txBody>
          <a:bodyPr wrap="square" lIns="0" tIns="0" rIns="0" bIns="0" rtlCol="0" anchor="t"/>
          <a:lstStyle/>
          <a:p>
            <a:pPr algn="ctr" indent="0" marL="0">
              <a:buNone/>
            </a:pPr>
            <a:r>
              <a:rPr lang="en-US" sz="1800" b="1" dirty="0">
                <a:solidFill>
                  <a:srgbClr val="15803D"/>
                </a:solidFill>
                <a:latin typeface="Arial" pitchFamily="34" charset="0"/>
                <a:ea typeface="Arial" pitchFamily="34" charset="-122"/>
                <a:cs typeface="Arial" pitchFamily="34" charset="-120"/>
              </a:rPr>
              <a:t>After: verified, with its source rows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greisi\StudioProjects\elbasan-pulse\docs\pitch\assets\ai4society-logo.png">    </p:cNvPr>
          <p:cNvPicPr>
            <a:picLocks noChangeAspect="1"/>
          </p:cNvPicPr>
          <p:nvPr/>
        </p:nvPicPr>
        <p:blipFill>
          <a:blip r:embed="rId1"/>
          <a:stretch>
            <a:fillRect/>
          </a:stretch>
        </p:blipFill>
        <p:spPr>
          <a:xfrm>
            <a:off x="457200" y="292608"/>
            <a:ext cx="1005840" cy="581558"/>
          </a:xfrm>
          <a:prstGeom prst="rect">
            <a:avLst/>
          </a:prstGeom>
        </p:spPr>
      </p:pic>
      <p:pic>
        <p:nvPicPr>
          <p:cNvPr id="3" name="Image 1" descr="C:\Users\greisi\StudioProjects\elbasan-pulse\docs\pitch\assets\sportel-icon.png">    </p:cNvPr>
          <p:cNvPicPr>
            <a:picLocks noChangeAspect="1"/>
          </p:cNvPicPr>
          <p:nvPr/>
        </p:nvPicPr>
        <p:blipFill>
          <a:blip r:embed="rId2"/>
          <a:stretch>
            <a:fillRect/>
          </a:stretch>
        </p:blipFill>
        <p:spPr>
          <a:xfrm>
            <a:off x="1691640" y="329184"/>
            <a:ext cx="658368" cy="510235"/>
          </a:xfrm>
          <a:prstGeom prst="rect">
            <a:avLst/>
          </a:prstGeom>
        </p:spPr>
      </p:pic>
      <p:sp>
        <p:nvSpPr>
          <p:cNvPr id="4" name="Text 0"/>
          <p:cNvSpPr txBox="1"/>
          <p:nvPr/>
        </p:nvSpPr>
        <p:spPr>
          <a:xfrm>
            <a:off x="11277295" y="6400800"/>
            <a:ext cx="457200" cy="274320"/>
          </a:xfrm>
          <a:prstGeom prst="rect">
            <a:avLst/>
          </a:prstGeom>
          <a:noFill/>
          <a:ln/>
        </p:spPr>
        <p:txBody>
          <a:bodyPr wrap="square" lIns="0" tIns="0" rIns="0" bIns="0" rtlCol="0" anchor="t"/>
          <a:lstStyle/>
          <a:p>
            <a:pPr algn="r" indent="0" marL="0">
              <a:buNone/>
            </a:pPr>
            <a:r>
              <a:rPr lang="en-US" sz="1100" b="1" dirty="0">
                <a:solidFill>
                  <a:srgbClr val="6B7280"/>
                </a:solidFill>
                <a:latin typeface="Arial" pitchFamily="34" charset="0"/>
                <a:ea typeface="Arial" pitchFamily="34" charset="-122"/>
                <a:cs typeface="Arial" pitchFamily="34" charset="-120"/>
              </a:rPr>
              <a:t>04</a:t>
            </a:r>
            <a:endParaRPr lang="en-US" sz="1100" dirty="0"/>
          </a:p>
        </p:txBody>
      </p:sp>
      <p:sp>
        <p:nvSpPr>
          <p:cNvPr id="5" name="Text 1"/>
          <p:cNvSpPr txBox="1"/>
          <p:nvPr/>
        </p:nvSpPr>
        <p:spPr>
          <a:xfrm>
            <a:off x="457200" y="6400800"/>
            <a:ext cx="4572000"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Sportel · FirmatGroup</a:t>
            </a:r>
            <a:endParaRPr lang="en-US" sz="1100" dirty="0"/>
          </a:p>
        </p:txBody>
      </p:sp>
      <p:sp>
        <p:nvSpPr>
          <p:cNvPr id="6" name="Text 2"/>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800" b="1" dirty="0">
                <a:solidFill>
                  <a:srgbClr val="0B8F8B"/>
                </a:solidFill>
                <a:latin typeface="Arial" pitchFamily="34" charset="0"/>
                <a:ea typeface="Arial" pitchFamily="34" charset="-122"/>
                <a:cs typeface="Arial" pitchFamily="34" charset="-120"/>
              </a:rPr>
              <a:t>Users</a:t>
            </a:r>
            <a:endParaRPr lang="en-US" sz="1800" dirty="0"/>
          </a:p>
        </p:txBody>
      </p:sp>
      <p:sp>
        <p:nvSpPr>
          <p:cNvPr id="7" name="Text 3"/>
          <p:cNvSpPr txBox="1"/>
          <p:nvPr/>
        </p:nvSpPr>
        <p:spPr>
          <a:xfrm>
            <a:off x="457200" y="1463040"/>
            <a:ext cx="11277295" cy="822960"/>
          </a:xfrm>
          <a:prstGeom prst="rect">
            <a:avLst/>
          </a:prstGeom>
          <a:noFill/>
          <a:ln/>
        </p:spPr>
        <p:txBody>
          <a:bodyPr wrap="square" lIns="0" tIns="0" rIns="0" bIns="0" rtlCol="0" anchor="t"/>
          <a:lstStyle/>
          <a:p>
            <a:pPr indent="0" marL="0">
              <a:buNone/>
            </a:pPr>
            <a:r>
              <a:rPr lang="en-US" sz="4000" b="1" dirty="0">
                <a:solidFill>
                  <a:srgbClr val="1C2B5A"/>
                </a:solidFill>
                <a:latin typeface="Arial" pitchFamily="34" charset="0"/>
                <a:ea typeface="Arial" pitchFamily="34" charset="-122"/>
                <a:cs typeface="Arial" pitchFamily="34" charset="-120"/>
              </a:rPr>
              <a:t>Who uses it</a:t>
            </a:r>
            <a:endParaRPr lang="en-US" sz="4000" dirty="0"/>
          </a:p>
        </p:txBody>
      </p:sp>
      <p:sp>
        <p:nvSpPr>
          <p:cNvPr id="8" name="Shape 4"/>
          <p:cNvSpPr/>
          <p:nvPr/>
        </p:nvSpPr>
        <p:spPr>
          <a:xfrm>
            <a:off x="457200" y="2468880"/>
            <a:ext cx="868680" cy="868680"/>
          </a:xfrm>
          <a:prstGeom prst="ellipse">
            <a:avLst/>
          </a:prstGeom>
          <a:solidFill>
            <a:srgbClr val="08B3AE"/>
          </a:solidFill>
          <a:ln w="12700">
            <a:solidFill>
              <a:srgbClr val="08B3AE"/>
            </a:solidFill>
            <a:prstDash val="solid"/>
          </a:ln>
        </p:spPr>
      </p:sp>
      <p:pic>
        <p:nvPicPr>
          <p:cNvPr id="9" name="Image 2" descr="preencoded.png">    </p:cNvPr>
          <p:cNvPicPr>
            <a:picLocks noChangeAspect="1"/>
          </p:cNvPicPr>
          <p:nvPr/>
        </p:nvPicPr>
        <p:blipFill>
          <a:blip r:embed="rId3"/>
          <a:stretch>
            <a:fillRect/>
          </a:stretch>
        </p:blipFill>
        <p:spPr>
          <a:xfrm>
            <a:off x="674370" y="2686050"/>
            <a:ext cx="434340" cy="434340"/>
          </a:xfrm>
          <a:prstGeom prst="rect">
            <a:avLst/>
          </a:prstGeom>
        </p:spPr>
      </p:pic>
      <p:sp>
        <p:nvSpPr>
          <p:cNvPr id="10" name="Text 5"/>
          <p:cNvSpPr txBox="1"/>
          <p:nvPr/>
        </p:nvSpPr>
        <p:spPr>
          <a:xfrm>
            <a:off x="1508760" y="2487168"/>
            <a:ext cx="3108960" cy="457200"/>
          </a:xfrm>
          <a:prstGeom prst="rect">
            <a:avLst/>
          </a:prstGeom>
          <a:noFill/>
          <a:ln/>
        </p:spPr>
        <p:txBody>
          <a:bodyPr wrap="square" lIns="0" tIns="0" rIns="0" bIns="0" rtlCol="0" anchor="t"/>
          <a:lstStyle/>
          <a:p>
            <a:pPr indent="0" marL="0">
              <a:buNone/>
            </a:pPr>
            <a:r>
              <a:rPr lang="en-US" sz="2400" b="1" dirty="0">
                <a:solidFill>
                  <a:srgbClr val="1C2B5A"/>
                </a:solidFill>
                <a:latin typeface="Arial" pitchFamily="34" charset="0"/>
                <a:ea typeface="Arial" pitchFamily="34" charset="-122"/>
                <a:cs typeface="Arial" pitchFamily="34" charset="-120"/>
              </a:rPr>
              <a:t>Head of department</a:t>
            </a:r>
            <a:endParaRPr lang="en-US" sz="2400" dirty="0"/>
          </a:p>
        </p:txBody>
      </p:sp>
      <p:sp>
        <p:nvSpPr>
          <p:cNvPr id="11" name="Text 6"/>
          <p:cNvSpPr txBox="1"/>
          <p:nvPr/>
        </p:nvSpPr>
        <p:spPr>
          <a:xfrm>
            <a:off x="1508760" y="2926080"/>
            <a:ext cx="3108960" cy="411480"/>
          </a:xfrm>
          <a:prstGeom prst="rect">
            <a:avLst/>
          </a:prstGeom>
          <a:noFill/>
          <a:ln/>
        </p:spPr>
        <p:txBody>
          <a:bodyPr wrap="square" lIns="0" tIns="0" rIns="0" bIns="0" rtlCol="0" anchor="t"/>
          <a:lstStyle/>
          <a:p>
            <a:pPr indent="0" marL="0">
              <a:buNone/>
            </a:pPr>
            <a:r>
              <a:rPr lang="en-US" sz="2000" dirty="0">
                <a:solidFill>
                  <a:srgbClr val="6B7280"/>
                </a:solidFill>
                <a:latin typeface="Arial" pitchFamily="34" charset="0"/>
                <a:ea typeface="Arial" pitchFamily="34" charset="-122"/>
                <a:cs typeface="Arial" pitchFamily="34" charset="-120"/>
              </a:rPr>
              <a:t>decides on evidence</a:t>
            </a:r>
            <a:endParaRPr lang="en-US" sz="2000" dirty="0"/>
          </a:p>
        </p:txBody>
      </p:sp>
      <p:sp>
        <p:nvSpPr>
          <p:cNvPr id="12" name="Shape 7"/>
          <p:cNvSpPr/>
          <p:nvPr/>
        </p:nvSpPr>
        <p:spPr>
          <a:xfrm>
            <a:off x="457200" y="3657600"/>
            <a:ext cx="868680" cy="868680"/>
          </a:xfrm>
          <a:prstGeom prst="ellipse">
            <a:avLst/>
          </a:prstGeom>
          <a:solidFill>
            <a:srgbClr val="1C2B5A"/>
          </a:solidFill>
          <a:ln w="12700">
            <a:solidFill>
              <a:srgbClr val="1C2B5A"/>
            </a:solidFill>
            <a:prstDash val="solid"/>
          </a:ln>
        </p:spPr>
      </p:sp>
      <p:pic>
        <p:nvPicPr>
          <p:cNvPr id="13" name="Image 3" descr="preencoded.png">    </p:cNvPr>
          <p:cNvPicPr>
            <a:picLocks noChangeAspect="1"/>
          </p:cNvPicPr>
          <p:nvPr/>
        </p:nvPicPr>
        <p:blipFill>
          <a:blip r:embed="rId4"/>
          <a:stretch>
            <a:fillRect/>
          </a:stretch>
        </p:blipFill>
        <p:spPr>
          <a:xfrm>
            <a:off x="674370" y="3874770"/>
            <a:ext cx="434340" cy="434340"/>
          </a:xfrm>
          <a:prstGeom prst="rect">
            <a:avLst/>
          </a:prstGeom>
        </p:spPr>
      </p:pic>
      <p:sp>
        <p:nvSpPr>
          <p:cNvPr id="14" name="Text 8"/>
          <p:cNvSpPr txBox="1"/>
          <p:nvPr/>
        </p:nvSpPr>
        <p:spPr>
          <a:xfrm>
            <a:off x="1508760" y="3675888"/>
            <a:ext cx="3108960" cy="457200"/>
          </a:xfrm>
          <a:prstGeom prst="rect">
            <a:avLst/>
          </a:prstGeom>
          <a:noFill/>
          <a:ln/>
        </p:spPr>
        <p:txBody>
          <a:bodyPr wrap="square" lIns="0" tIns="0" rIns="0" bIns="0" rtlCol="0" anchor="t"/>
          <a:lstStyle/>
          <a:p>
            <a:pPr indent="0" marL="0">
              <a:buNone/>
            </a:pPr>
            <a:r>
              <a:rPr lang="en-US" sz="2400" b="1" dirty="0">
                <a:solidFill>
                  <a:srgbClr val="1C2B5A"/>
                </a:solidFill>
                <a:latin typeface="Arial" pitchFamily="34" charset="0"/>
                <a:ea typeface="Arial" pitchFamily="34" charset="-122"/>
                <a:cs typeface="Arial" pitchFamily="34" charset="-120"/>
              </a:rPr>
              <a:t>Department staff</a:t>
            </a:r>
            <a:endParaRPr lang="en-US" sz="2400" dirty="0"/>
          </a:p>
        </p:txBody>
      </p:sp>
      <p:sp>
        <p:nvSpPr>
          <p:cNvPr id="15" name="Text 9"/>
          <p:cNvSpPr txBox="1"/>
          <p:nvPr/>
        </p:nvSpPr>
        <p:spPr>
          <a:xfrm>
            <a:off x="1508760" y="4114800"/>
            <a:ext cx="3108960" cy="411480"/>
          </a:xfrm>
          <a:prstGeom prst="rect">
            <a:avLst/>
          </a:prstGeom>
          <a:noFill/>
          <a:ln/>
        </p:spPr>
        <p:txBody>
          <a:bodyPr wrap="square" lIns="0" tIns="0" rIns="0" bIns="0" rtlCol="0" anchor="t"/>
          <a:lstStyle/>
          <a:p>
            <a:pPr indent="0" marL="0">
              <a:buNone/>
            </a:pPr>
            <a:r>
              <a:rPr lang="en-US" sz="2000" dirty="0">
                <a:solidFill>
                  <a:srgbClr val="6B7280"/>
                </a:solidFill>
                <a:latin typeface="Arial" pitchFamily="34" charset="0"/>
                <a:ea typeface="Arial" pitchFamily="34" charset="-122"/>
                <a:cs typeface="Arial" pitchFamily="34" charset="-120"/>
              </a:rPr>
              <a:t>upload their Excel</a:t>
            </a:r>
            <a:endParaRPr lang="en-US" sz="2000" dirty="0"/>
          </a:p>
        </p:txBody>
      </p:sp>
      <p:sp>
        <p:nvSpPr>
          <p:cNvPr id="16" name="Shape 10"/>
          <p:cNvSpPr/>
          <p:nvPr/>
        </p:nvSpPr>
        <p:spPr>
          <a:xfrm>
            <a:off x="457200" y="4846320"/>
            <a:ext cx="868680" cy="868680"/>
          </a:xfrm>
          <a:prstGeom prst="ellipse">
            <a:avLst/>
          </a:prstGeom>
          <a:solidFill>
            <a:srgbClr val="1C2B5A"/>
          </a:solidFill>
          <a:ln w="12700">
            <a:solidFill>
              <a:srgbClr val="1C2B5A"/>
            </a:solidFill>
            <a:prstDash val="solid"/>
          </a:ln>
        </p:spPr>
      </p:sp>
      <p:pic>
        <p:nvPicPr>
          <p:cNvPr id="17" name="Image 4" descr="preencoded.png">    </p:cNvPr>
          <p:cNvPicPr>
            <a:picLocks noChangeAspect="1"/>
          </p:cNvPicPr>
          <p:nvPr/>
        </p:nvPicPr>
        <p:blipFill>
          <a:blip r:embed="rId5"/>
          <a:stretch>
            <a:fillRect/>
          </a:stretch>
        </p:blipFill>
        <p:spPr>
          <a:xfrm>
            <a:off x="674370" y="5063490"/>
            <a:ext cx="434340" cy="434340"/>
          </a:xfrm>
          <a:prstGeom prst="rect">
            <a:avLst/>
          </a:prstGeom>
        </p:spPr>
      </p:pic>
      <p:sp>
        <p:nvSpPr>
          <p:cNvPr id="18" name="Text 11"/>
          <p:cNvSpPr txBox="1"/>
          <p:nvPr/>
        </p:nvSpPr>
        <p:spPr>
          <a:xfrm>
            <a:off x="1508760" y="4864608"/>
            <a:ext cx="3108960" cy="457200"/>
          </a:xfrm>
          <a:prstGeom prst="rect">
            <a:avLst/>
          </a:prstGeom>
          <a:noFill/>
          <a:ln/>
        </p:spPr>
        <p:txBody>
          <a:bodyPr wrap="square" lIns="0" tIns="0" rIns="0" bIns="0" rtlCol="0" anchor="t"/>
          <a:lstStyle/>
          <a:p>
            <a:pPr indent="0" marL="0">
              <a:buNone/>
            </a:pPr>
            <a:r>
              <a:rPr lang="en-US" sz="2400" b="1" dirty="0">
                <a:solidFill>
                  <a:srgbClr val="1C2B5A"/>
                </a:solidFill>
                <a:latin typeface="Arial" pitchFamily="34" charset="0"/>
                <a:ea typeface="Arial" pitchFamily="34" charset="-122"/>
                <a:cs typeface="Arial" pitchFamily="34" charset="-120"/>
              </a:rPr>
              <a:t>Mayor’s office + IT</a:t>
            </a:r>
            <a:endParaRPr lang="en-US" sz="2400" dirty="0"/>
          </a:p>
        </p:txBody>
      </p:sp>
      <p:sp>
        <p:nvSpPr>
          <p:cNvPr id="19" name="Text 12"/>
          <p:cNvSpPr txBox="1"/>
          <p:nvPr/>
        </p:nvSpPr>
        <p:spPr>
          <a:xfrm>
            <a:off x="1508760" y="5303520"/>
            <a:ext cx="3108960" cy="411480"/>
          </a:xfrm>
          <a:prstGeom prst="rect">
            <a:avLst/>
          </a:prstGeom>
          <a:noFill/>
          <a:ln/>
        </p:spPr>
        <p:txBody>
          <a:bodyPr wrap="square" lIns="0" tIns="0" rIns="0" bIns="0" rtlCol="0" anchor="t"/>
          <a:lstStyle/>
          <a:p>
            <a:pPr indent="0" marL="0">
              <a:buNone/>
            </a:pPr>
            <a:r>
              <a:rPr lang="en-US" sz="2000" dirty="0">
                <a:solidFill>
                  <a:srgbClr val="6B7280"/>
                </a:solidFill>
                <a:latin typeface="Arial" pitchFamily="34" charset="0"/>
                <a:ea typeface="Arial" pitchFamily="34" charset="-122"/>
                <a:cs typeface="Arial" pitchFamily="34" charset="-120"/>
              </a:rPr>
              <a:t>adopt it</a:t>
            </a:r>
            <a:endParaRPr lang="en-US" sz="2000" dirty="0"/>
          </a:p>
        </p:txBody>
      </p:sp>
      <p:sp>
        <p:nvSpPr>
          <p:cNvPr id="20" name="Shape 13"/>
          <p:cNvSpPr/>
          <p:nvPr/>
        </p:nvSpPr>
        <p:spPr>
          <a:xfrm>
            <a:off x="4754880" y="2377440"/>
            <a:ext cx="6976872" cy="3566160"/>
          </a:xfrm>
          <a:prstGeom prst="roundRect">
            <a:avLst>
              <a:gd name="adj" fmla="val 2564"/>
            </a:avLst>
          </a:prstGeom>
          <a:solidFill>
            <a:srgbClr val="FFFFFF"/>
          </a:solidFill>
          <a:ln w="12700">
            <a:solidFill>
              <a:srgbClr val="CBD5E1"/>
            </a:solidFill>
            <a:prstDash val="solid"/>
          </a:ln>
          <a:effectLst>
            <a:outerShdw sx="100000" sy="100000" kx="0" ky="0" algn="bl" rotWithShape="0" blurRad="101600" dist="38100" dir="5400000">
              <a:srgbClr val="1C2B5A">
                <a:alpha val="18000"/>
              </a:srgbClr>
            </a:outerShdw>
          </a:effectLst>
        </p:spPr>
      </p:sp>
      <p:pic>
        <p:nvPicPr>
          <p:cNvPr id="21" name="Image 5" descr="C:\Users\greisi\StudioProjects\elbasan-pulse\docs\pitch\assets\screens\board-after.png">    </p:cNvPr>
          <p:cNvPicPr>
            <a:picLocks noChangeAspect="1"/>
          </p:cNvPicPr>
          <p:nvPr/>
        </p:nvPicPr>
        <p:blipFill>
          <a:blip r:embed="rId6"/>
          <a:stretch>
            <a:fillRect/>
          </a:stretch>
        </p:blipFill>
        <p:spPr>
          <a:xfrm>
            <a:off x="4828032" y="2472506"/>
            <a:ext cx="6830568" cy="3376028"/>
          </a:xfrm>
          <a:prstGeom prst="rect">
            <a:avLst/>
          </a:prstGeom>
        </p:spPr>
      </p:pic>
      <p:sp>
        <p:nvSpPr>
          <p:cNvPr id="22" name="Text 14"/>
          <p:cNvSpPr txBox="1"/>
          <p:nvPr/>
        </p:nvSpPr>
        <p:spPr>
          <a:xfrm>
            <a:off x="4754880" y="6016752"/>
            <a:ext cx="6976872" cy="320040"/>
          </a:xfrm>
          <a:prstGeom prst="rect">
            <a:avLst/>
          </a:prstGeom>
          <a:noFill/>
          <a:ln/>
        </p:spPr>
        <p:txBody>
          <a:bodyPr wrap="square" lIns="0" tIns="0" rIns="0" bIns="0" rtlCol="0" anchor="t"/>
          <a:lstStyle/>
          <a:p>
            <a:pPr algn="ctr" indent="0" marL="0">
              <a:buNone/>
            </a:pPr>
            <a:r>
              <a:rPr lang="en-US" sz="1400" i="1" dirty="0">
                <a:solidFill>
                  <a:srgbClr val="6B7280"/>
                </a:solidFill>
                <a:latin typeface="Arial" pitchFamily="34" charset="0"/>
                <a:ea typeface="Arial" pitchFamily="34" charset="-122"/>
                <a:cs typeface="Arial" pitchFamily="34" charset="-120"/>
              </a:rPr>
              <a:t>The head of department’s board: whom to ask, what is off track</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greisi\StudioProjects\elbasan-pulse\docs\pitch\assets\ai4society-logo.png">    </p:cNvPr>
          <p:cNvPicPr>
            <a:picLocks noChangeAspect="1"/>
          </p:cNvPicPr>
          <p:nvPr/>
        </p:nvPicPr>
        <p:blipFill>
          <a:blip r:embed="rId1"/>
          <a:stretch>
            <a:fillRect/>
          </a:stretch>
        </p:blipFill>
        <p:spPr>
          <a:xfrm>
            <a:off x="457200" y="292608"/>
            <a:ext cx="1005840" cy="581558"/>
          </a:xfrm>
          <a:prstGeom prst="rect">
            <a:avLst/>
          </a:prstGeom>
        </p:spPr>
      </p:pic>
      <p:pic>
        <p:nvPicPr>
          <p:cNvPr id="3" name="Image 1" descr="C:\Users\greisi\StudioProjects\elbasan-pulse\docs\pitch\assets\sportel-icon.png">    </p:cNvPr>
          <p:cNvPicPr>
            <a:picLocks noChangeAspect="1"/>
          </p:cNvPicPr>
          <p:nvPr/>
        </p:nvPicPr>
        <p:blipFill>
          <a:blip r:embed="rId2"/>
          <a:stretch>
            <a:fillRect/>
          </a:stretch>
        </p:blipFill>
        <p:spPr>
          <a:xfrm>
            <a:off x="1691640" y="329184"/>
            <a:ext cx="658368" cy="510235"/>
          </a:xfrm>
          <a:prstGeom prst="rect">
            <a:avLst/>
          </a:prstGeom>
        </p:spPr>
      </p:pic>
      <p:sp>
        <p:nvSpPr>
          <p:cNvPr id="4" name="Text 0"/>
          <p:cNvSpPr txBox="1"/>
          <p:nvPr/>
        </p:nvSpPr>
        <p:spPr>
          <a:xfrm>
            <a:off x="11277295" y="6400800"/>
            <a:ext cx="457200" cy="274320"/>
          </a:xfrm>
          <a:prstGeom prst="rect">
            <a:avLst/>
          </a:prstGeom>
          <a:noFill/>
          <a:ln/>
        </p:spPr>
        <p:txBody>
          <a:bodyPr wrap="square" lIns="0" tIns="0" rIns="0" bIns="0" rtlCol="0" anchor="t"/>
          <a:lstStyle/>
          <a:p>
            <a:pPr algn="r" indent="0" marL="0">
              <a:buNone/>
            </a:pPr>
            <a:r>
              <a:rPr lang="en-US" sz="1100" b="1" dirty="0">
                <a:solidFill>
                  <a:srgbClr val="6B7280"/>
                </a:solidFill>
                <a:latin typeface="Arial" pitchFamily="34" charset="0"/>
                <a:ea typeface="Arial" pitchFamily="34" charset="-122"/>
                <a:cs typeface="Arial" pitchFamily="34" charset="-120"/>
              </a:rPr>
              <a:t>05</a:t>
            </a:r>
            <a:endParaRPr lang="en-US" sz="1100" dirty="0"/>
          </a:p>
        </p:txBody>
      </p:sp>
      <p:sp>
        <p:nvSpPr>
          <p:cNvPr id="5" name="Text 1"/>
          <p:cNvSpPr txBox="1"/>
          <p:nvPr/>
        </p:nvSpPr>
        <p:spPr>
          <a:xfrm>
            <a:off x="457200" y="6400800"/>
            <a:ext cx="4572000"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Sportel · FirmatGroup</a:t>
            </a:r>
            <a:endParaRPr lang="en-US" sz="1100" dirty="0"/>
          </a:p>
        </p:txBody>
      </p:sp>
      <p:sp>
        <p:nvSpPr>
          <p:cNvPr id="6" name="Text 2"/>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800" b="1" dirty="0">
                <a:solidFill>
                  <a:srgbClr val="0B8F8B"/>
                </a:solidFill>
                <a:latin typeface="Arial" pitchFamily="34" charset="0"/>
                <a:ea typeface="Arial" pitchFamily="34" charset="-122"/>
                <a:cs typeface="Arial" pitchFamily="34" charset="-120"/>
              </a:rPr>
              <a:t>How it works</a:t>
            </a:r>
            <a:endParaRPr lang="en-US" sz="1800" dirty="0"/>
          </a:p>
        </p:txBody>
      </p:sp>
      <p:sp>
        <p:nvSpPr>
          <p:cNvPr id="7" name="Text 3"/>
          <p:cNvSpPr txBox="1"/>
          <p:nvPr/>
        </p:nvSpPr>
        <p:spPr>
          <a:xfrm>
            <a:off x="457200" y="1463040"/>
            <a:ext cx="11277295" cy="822960"/>
          </a:xfrm>
          <a:prstGeom prst="rect">
            <a:avLst/>
          </a:prstGeom>
          <a:noFill/>
          <a:ln/>
        </p:spPr>
        <p:txBody>
          <a:bodyPr wrap="square" lIns="0" tIns="0" rIns="0" bIns="0" rtlCol="0" anchor="t"/>
          <a:lstStyle/>
          <a:p>
            <a:pPr indent="0" marL="0">
              <a:buNone/>
            </a:pPr>
            <a:r>
              <a:rPr lang="en-US" sz="4000" b="1" dirty="0">
                <a:solidFill>
                  <a:srgbClr val="1C2B5A"/>
                </a:solidFill>
                <a:latin typeface="Arial" pitchFamily="34" charset="0"/>
                <a:ea typeface="Arial" pitchFamily="34" charset="-122"/>
                <a:cs typeface="Arial" pitchFamily="34" charset="-120"/>
              </a:rPr>
              <a:t>AI reads. Code counts. You confirm.</a:t>
            </a:r>
            <a:endParaRPr lang="en-US" sz="4000" dirty="0"/>
          </a:p>
        </p:txBody>
      </p:sp>
      <p:sp>
        <p:nvSpPr>
          <p:cNvPr id="8" name="Shape 4"/>
          <p:cNvSpPr/>
          <p:nvPr/>
        </p:nvSpPr>
        <p:spPr>
          <a:xfrm>
            <a:off x="457200" y="2514600"/>
            <a:ext cx="3639312" cy="3017520"/>
          </a:xfrm>
          <a:prstGeom prst="roundRect">
            <a:avLst>
              <a:gd name="adj" fmla="val 4242"/>
            </a:avLst>
          </a:prstGeom>
          <a:solidFill>
            <a:srgbClr val="EFF9F8"/>
          </a:solidFill>
          <a:ln w="12700">
            <a:solidFill>
              <a:srgbClr val="EFF9F8"/>
            </a:solidFill>
            <a:prstDash val="solid"/>
          </a:ln>
        </p:spPr>
      </p:sp>
      <p:sp>
        <p:nvSpPr>
          <p:cNvPr id="9" name="Shape 5"/>
          <p:cNvSpPr/>
          <p:nvPr/>
        </p:nvSpPr>
        <p:spPr>
          <a:xfrm>
            <a:off x="777240" y="2788920"/>
            <a:ext cx="914400" cy="914400"/>
          </a:xfrm>
          <a:prstGeom prst="ellipse">
            <a:avLst/>
          </a:prstGeom>
          <a:solidFill>
            <a:srgbClr val="0B8F8B"/>
          </a:solidFill>
          <a:ln w="12700">
            <a:solidFill>
              <a:srgbClr val="0B8F8B"/>
            </a:solidFill>
            <a:prstDash val="solid"/>
          </a:ln>
        </p:spPr>
      </p:sp>
      <p:pic>
        <p:nvPicPr>
          <p:cNvPr id="10" name="Image 2" descr="preencoded.png">    </p:cNvPr>
          <p:cNvPicPr>
            <a:picLocks noChangeAspect="1"/>
          </p:cNvPicPr>
          <p:nvPr/>
        </p:nvPicPr>
        <p:blipFill>
          <a:blip r:embed="rId3"/>
          <a:stretch>
            <a:fillRect/>
          </a:stretch>
        </p:blipFill>
        <p:spPr>
          <a:xfrm>
            <a:off x="1005840" y="3017520"/>
            <a:ext cx="457200" cy="457200"/>
          </a:xfrm>
          <a:prstGeom prst="rect">
            <a:avLst/>
          </a:prstGeom>
        </p:spPr>
      </p:pic>
      <p:sp>
        <p:nvSpPr>
          <p:cNvPr id="11" name="Text 6"/>
          <p:cNvSpPr txBox="1"/>
          <p:nvPr/>
        </p:nvSpPr>
        <p:spPr>
          <a:xfrm>
            <a:off x="777240" y="3840480"/>
            <a:ext cx="3063240" cy="960120"/>
          </a:xfrm>
          <a:prstGeom prst="rect">
            <a:avLst/>
          </a:prstGeom>
          <a:noFill/>
          <a:ln/>
        </p:spPr>
        <p:txBody>
          <a:bodyPr wrap="square" lIns="0" tIns="0" rIns="0" bIns="0" rtlCol="0" anchor="t"/>
          <a:lstStyle/>
          <a:p>
            <a:pPr indent="0" marL="0">
              <a:buNone/>
            </a:pPr>
            <a:r>
              <a:rPr lang="en-US" sz="2400" b="1" dirty="0">
                <a:solidFill>
                  <a:srgbClr val="1C2B5A"/>
                </a:solidFill>
                <a:latin typeface="Arial" pitchFamily="34" charset="0"/>
                <a:ea typeface="Arial" pitchFamily="34" charset="-122"/>
                <a:cs typeface="Arial" pitchFamily="34" charset="-120"/>
              </a:rPr>
              <a:t>AI sees column names only</a:t>
            </a:r>
            <a:endParaRPr lang="en-US" sz="2400" dirty="0"/>
          </a:p>
        </p:txBody>
      </p:sp>
      <p:sp>
        <p:nvSpPr>
          <p:cNvPr id="12" name="Text 7"/>
          <p:cNvSpPr txBox="1"/>
          <p:nvPr/>
        </p:nvSpPr>
        <p:spPr>
          <a:xfrm>
            <a:off x="777240" y="4846320"/>
            <a:ext cx="3063240" cy="457200"/>
          </a:xfrm>
          <a:prstGeom prst="rect">
            <a:avLst/>
          </a:prstGeom>
          <a:noFill/>
          <a:ln/>
        </p:spPr>
        <p:txBody>
          <a:bodyPr wrap="square" lIns="0" tIns="0" rIns="0" bIns="0" rtlCol="0" anchor="t"/>
          <a:lstStyle/>
          <a:p>
            <a:pPr indent="0" marL="0">
              <a:buNone/>
            </a:pPr>
            <a:r>
              <a:rPr lang="en-US" sz="2000" dirty="0">
                <a:solidFill>
                  <a:srgbClr val="0B8F8B"/>
                </a:solidFill>
                <a:latin typeface="Arial" pitchFamily="34" charset="0"/>
                <a:ea typeface="Arial" pitchFamily="34" charset="-122"/>
                <a:cs typeface="Arial" pitchFamily="34" charset="-120"/>
              </a:rPr>
              <a:t>No values, no rows</a:t>
            </a:r>
            <a:endParaRPr lang="en-US" sz="2000" dirty="0"/>
          </a:p>
        </p:txBody>
      </p:sp>
      <p:sp>
        <p:nvSpPr>
          <p:cNvPr id="13" name="Shape 8"/>
          <p:cNvSpPr/>
          <p:nvPr/>
        </p:nvSpPr>
        <p:spPr>
          <a:xfrm>
            <a:off x="4279392" y="2514600"/>
            <a:ext cx="3639312" cy="3017520"/>
          </a:xfrm>
          <a:prstGeom prst="roundRect">
            <a:avLst>
              <a:gd name="adj" fmla="val 4242"/>
            </a:avLst>
          </a:prstGeom>
          <a:solidFill>
            <a:srgbClr val="EFF9F8"/>
          </a:solidFill>
          <a:ln w="12700">
            <a:solidFill>
              <a:srgbClr val="EFF9F8"/>
            </a:solidFill>
            <a:prstDash val="solid"/>
          </a:ln>
        </p:spPr>
      </p:sp>
      <p:sp>
        <p:nvSpPr>
          <p:cNvPr id="14" name="Shape 9"/>
          <p:cNvSpPr/>
          <p:nvPr/>
        </p:nvSpPr>
        <p:spPr>
          <a:xfrm>
            <a:off x="4599432" y="2788920"/>
            <a:ext cx="914400" cy="914400"/>
          </a:xfrm>
          <a:prstGeom prst="ellipse">
            <a:avLst/>
          </a:prstGeom>
          <a:solidFill>
            <a:srgbClr val="0B8F8B"/>
          </a:solidFill>
          <a:ln w="12700">
            <a:solidFill>
              <a:srgbClr val="0B8F8B"/>
            </a:solidFill>
            <a:prstDash val="solid"/>
          </a:ln>
        </p:spPr>
      </p:sp>
      <p:pic>
        <p:nvPicPr>
          <p:cNvPr id="15" name="Image 3" descr="preencoded.png">    </p:cNvPr>
          <p:cNvPicPr>
            <a:picLocks noChangeAspect="1"/>
          </p:cNvPicPr>
          <p:nvPr/>
        </p:nvPicPr>
        <p:blipFill>
          <a:blip r:embed="rId4"/>
          <a:stretch>
            <a:fillRect/>
          </a:stretch>
        </p:blipFill>
        <p:spPr>
          <a:xfrm>
            <a:off x="4828032" y="3017520"/>
            <a:ext cx="457200" cy="457200"/>
          </a:xfrm>
          <a:prstGeom prst="rect">
            <a:avLst/>
          </a:prstGeom>
        </p:spPr>
      </p:pic>
      <p:sp>
        <p:nvSpPr>
          <p:cNvPr id="16" name="Text 10"/>
          <p:cNvSpPr txBox="1"/>
          <p:nvPr/>
        </p:nvSpPr>
        <p:spPr>
          <a:xfrm>
            <a:off x="4599432" y="3840480"/>
            <a:ext cx="3063240" cy="960120"/>
          </a:xfrm>
          <a:prstGeom prst="rect">
            <a:avLst/>
          </a:prstGeom>
          <a:noFill/>
          <a:ln/>
        </p:spPr>
        <p:txBody>
          <a:bodyPr wrap="square" lIns="0" tIns="0" rIns="0" bIns="0" rtlCol="0" anchor="t"/>
          <a:lstStyle/>
          <a:p>
            <a:pPr indent="0" marL="0">
              <a:buNone/>
            </a:pPr>
            <a:r>
              <a:rPr lang="en-US" sz="2400" b="1" dirty="0">
                <a:solidFill>
                  <a:srgbClr val="1C2B5A"/>
                </a:solidFill>
                <a:latin typeface="Arial" pitchFamily="34" charset="0"/>
                <a:ea typeface="Arial" pitchFamily="34" charset="-122"/>
                <a:cs typeface="Arial" pitchFamily="34" charset="-120"/>
              </a:rPr>
              <a:t>Code computes every number</a:t>
            </a:r>
            <a:endParaRPr lang="en-US" sz="2400" dirty="0"/>
          </a:p>
        </p:txBody>
      </p:sp>
      <p:sp>
        <p:nvSpPr>
          <p:cNvPr id="17" name="Text 11"/>
          <p:cNvSpPr txBox="1"/>
          <p:nvPr/>
        </p:nvSpPr>
        <p:spPr>
          <a:xfrm>
            <a:off x="4599432" y="4846320"/>
            <a:ext cx="3063240" cy="457200"/>
          </a:xfrm>
          <a:prstGeom prst="rect">
            <a:avLst/>
          </a:prstGeom>
          <a:noFill/>
          <a:ln/>
        </p:spPr>
        <p:txBody>
          <a:bodyPr wrap="square" lIns="0" tIns="0" rIns="0" bIns="0" rtlCol="0" anchor="t"/>
          <a:lstStyle/>
          <a:p>
            <a:pPr indent="0" marL="0">
              <a:buNone/>
            </a:pPr>
            <a:r>
              <a:rPr lang="en-US" sz="2000" dirty="0">
                <a:solidFill>
                  <a:srgbClr val="0B8F8B"/>
                </a:solidFill>
                <a:latin typeface="Arial" pitchFamily="34" charset="0"/>
                <a:ea typeface="Arial" pitchFamily="34" charset="-122"/>
                <a:cs typeface="Arial" pitchFamily="34" charset="-120"/>
              </a:rPr>
              <a:t>AI never writes one</a:t>
            </a:r>
            <a:endParaRPr lang="en-US" sz="2000" dirty="0"/>
          </a:p>
        </p:txBody>
      </p:sp>
      <p:sp>
        <p:nvSpPr>
          <p:cNvPr id="18" name="Shape 12"/>
          <p:cNvSpPr/>
          <p:nvPr/>
        </p:nvSpPr>
        <p:spPr>
          <a:xfrm>
            <a:off x="8101584" y="2514600"/>
            <a:ext cx="3639312" cy="3017520"/>
          </a:xfrm>
          <a:prstGeom prst="roundRect">
            <a:avLst>
              <a:gd name="adj" fmla="val 4242"/>
            </a:avLst>
          </a:prstGeom>
          <a:solidFill>
            <a:srgbClr val="1C2B5A"/>
          </a:solidFill>
          <a:ln w="12700">
            <a:solidFill>
              <a:srgbClr val="1C2B5A"/>
            </a:solidFill>
            <a:prstDash val="solid"/>
          </a:ln>
        </p:spPr>
      </p:sp>
      <p:sp>
        <p:nvSpPr>
          <p:cNvPr id="19" name="Shape 13"/>
          <p:cNvSpPr/>
          <p:nvPr/>
        </p:nvSpPr>
        <p:spPr>
          <a:xfrm>
            <a:off x="8421624" y="2788920"/>
            <a:ext cx="914400" cy="914400"/>
          </a:xfrm>
          <a:prstGeom prst="ellipse">
            <a:avLst/>
          </a:prstGeom>
          <a:solidFill>
            <a:srgbClr val="08B3AE"/>
          </a:solidFill>
          <a:ln w="12700">
            <a:solidFill>
              <a:srgbClr val="08B3AE"/>
            </a:solidFill>
            <a:prstDash val="solid"/>
          </a:ln>
        </p:spPr>
      </p:sp>
      <p:pic>
        <p:nvPicPr>
          <p:cNvPr id="20" name="Image 4" descr="preencoded.png">    </p:cNvPr>
          <p:cNvPicPr>
            <a:picLocks noChangeAspect="1"/>
          </p:cNvPicPr>
          <p:nvPr/>
        </p:nvPicPr>
        <p:blipFill>
          <a:blip r:embed="rId5"/>
          <a:stretch>
            <a:fillRect/>
          </a:stretch>
        </p:blipFill>
        <p:spPr>
          <a:xfrm>
            <a:off x="8650224" y="3017520"/>
            <a:ext cx="457200" cy="457200"/>
          </a:xfrm>
          <a:prstGeom prst="rect">
            <a:avLst/>
          </a:prstGeom>
        </p:spPr>
      </p:pic>
      <p:sp>
        <p:nvSpPr>
          <p:cNvPr id="21" name="Text 14"/>
          <p:cNvSpPr txBox="1"/>
          <p:nvPr/>
        </p:nvSpPr>
        <p:spPr>
          <a:xfrm>
            <a:off x="8421624" y="3840480"/>
            <a:ext cx="3063240" cy="96012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Runs on the municipality’s server</a:t>
            </a:r>
            <a:endParaRPr lang="en-US" sz="2400" dirty="0"/>
          </a:p>
        </p:txBody>
      </p:sp>
      <p:sp>
        <p:nvSpPr>
          <p:cNvPr id="22" name="Text 15"/>
          <p:cNvSpPr txBox="1"/>
          <p:nvPr/>
        </p:nvSpPr>
        <p:spPr>
          <a:xfrm>
            <a:off x="8421624" y="4846320"/>
            <a:ext cx="3063240" cy="457200"/>
          </a:xfrm>
          <a:prstGeom prst="rect">
            <a:avLst/>
          </a:prstGeom>
          <a:noFill/>
          <a:ln/>
        </p:spPr>
        <p:txBody>
          <a:bodyPr wrap="square" lIns="0" tIns="0" rIns="0" bIns="0" rtlCol="0" anchor="t"/>
          <a:lstStyle/>
          <a:p>
            <a:pPr indent="0" marL="0">
              <a:buNone/>
            </a:pPr>
            <a:r>
              <a:rPr lang="en-US" sz="2000" dirty="0">
                <a:solidFill>
                  <a:srgbClr val="7CE8E3"/>
                </a:solidFill>
                <a:latin typeface="Arial" pitchFamily="34" charset="0"/>
                <a:ea typeface="Arial" pitchFamily="34" charset="-122"/>
                <a:cs typeface="Arial" pitchFamily="34" charset="-120"/>
              </a:rPr>
              <a:t>Data stays inside</a:t>
            </a:r>
            <a:endParaRPr lang="en-US" sz="2000" dirty="0"/>
          </a:p>
        </p:txBody>
      </p:sp>
      <p:sp>
        <p:nvSpPr>
          <p:cNvPr id="23" name="Text 16"/>
          <p:cNvSpPr txBox="1"/>
          <p:nvPr/>
        </p:nvSpPr>
        <p:spPr>
          <a:xfrm>
            <a:off x="457200" y="5760720"/>
            <a:ext cx="11277295" cy="411480"/>
          </a:xfrm>
          <a:prstGeom prst="rect">
            <a:avLst/>
          </a:prstGeom>
          <a:noFill/>
          <a:ln/>
        </p:spPr>
        <p:txBody>
          <a:bodyPr wrap="square" lIns="0" tIns="0" rIns="0" bIns="0" rtlCol="0" anchor="t"/>
          <a:lstStyle/>
          <a:p>
            <a:pPr indent="0" marL="0">
              <a:buNone/>
            </a:pPr>
            <a:r>
              <a:rPr lang="en-US" sz="1800" dirty="0">
                <a:solidFill>
                  <a:srgbClr val="6B7280"/>
                </a:solidFill>
                <a:latin typeface="Arial" pitchFamily="34" charset="0"/>
                <a:ea typeface="Arial" pitchFamily="34" charset="-122"/>
                <a:cs typeface="Arial" pitchFamily="34" charset="-120"/>
              </a:rPr>
              <a:t>AI provider: zero data retention, EU region, or a local model</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greisi\StudioProjects\elbasan-pulse\docs\pitch\assets\ai4society-logo.png">    </p:cNvPr>
          <p:cNvPicPr>
            <a:picLocks noChangeAspect="1"/>
          </p:cNvPicPr>
          <p:nvPr/>
        </p:nvPicPr>
        <p:blipFill>
          <a:blip r:embed="rId1"/>
          <a:stretch>
            <a:fillRect/>
          </a:stretch>
        </p:blipFill>
        <p:spPr>
          <a:xfrm>
            <a:off x="457200" y="292608"/>
            <a:ext cx="1005840" cy="581558"/>
          </a:xfrm>
          <a:prstGeom prst="rect">
            <a:avLst/>
          </a:prstGeom>
        </p:spPr>
      </p:pic>
      <p:pic>
        <p:nvPicPr>
          <p:cNvPr id="3" name="Image 1" descr="C:\Users\greisi\StudioProjects\elbasan-pulse\docs\pitch\assets\sportel-icon.png">    </p:cNvPr>
          <p:cNvPicPr>
            <a:picLocks noChangeAspect="1"/>
          </p:cNvPicPr>
          <p:nvPr/>
        </p:nvPicPr>
        <p:blipFill>
          <a:blip r:embed="rId2"/>
          <a:stretch>
            <a:fillRect/>
          </a:stretch>
        </p:blipFill>
        <p:spPr>
          <a:xfrm>
            <a:off x="1691640" y="329184"/>
            <a:ext cx="658368" cy="510235"/>
          </a:xfrm>
          <a:prstGeom prst="rect">
            <a:avLst/>
          </a:prstGeom>
        </p:spPr>
      </p:pic>
      <p:sp>
        <p:nvSpPr>
          <p:cNvPr id="4" name="Text 0"/>
          <p:cNvSpPr txBox="1"/>
          <p:nvPr/>
        </p:nvSpPr>
        <p:spPr>
          <a:xfrm>
            <a:off x="11277295" y="6400800"/>
            <a:ext cx="457200" cy="274320"/>
          </a:xfrm>
          <a:prstGeom prst="rect">
            <a:avLst/>
          </a:prstGeom>
          <a:noFill/>
          <a:ln/>
        </p:spPr>
        <p:txBody>
          <a:bodyPr wrap="square" lIns="0" tIns="0" rIns="0" bIns="0" rtlCol="0" anchor="t"/>
          <a:lstStyle/>
          <a:p>
            <a:pPr algn="r" indent="0" marL="0">
              <a:buNone/>
            </a:pPr>
            <a:r>
              <a:rPr lang="en-US" sz="1100" b="1" dirty="0">
                <a:solidFill>
                  <a:srgbClr val="6B7280"/>
                </a:solidFill>
                <a:latin typeface="Arial" pitchFamily="34" charset="0"/>
                <a:ea typeface="Arial" pitchFamily="34" charset="-122"/>
                <a:cs typeface="Arial" pitchFamily="34" charset="-120"/>
              </a:rPr>
              <a:t>06</a:t>
            </a:r>
            <a:endParaRPr lang="en-US" sz="1100" dirty="0"/>
          </a:p>
        </p:txBody>
      </p:sp>
      <p:sp>
        <p:nvSpPr>
          <p:cNvPr id="5" name="Text 1"/>
          <p:cNvSpPr txBox="1"/>
          <p:nvPr/>
        </p:nvSpPr>
        <p:spPr>
          <a:xfrm>
            <a:off x="457200" y="6400800"/>
            <a:ext cx="4572000"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Sportel · FirmatGroup</a:t>
            </a:r>
            <a:endParaRPr lang="en-US" sz="1100" dirty="0"/>
          </a:p>
        </p:txBody>
      </p:sp>
      <p:sp>
        <p:nvSpPr>
          <p:cNvPr id="6" name="Text 2"/>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800" b="1" dirty="0">
                <a:solidFill>
                  <a:srgbClr val="0B8F8B"/>
                </a:solidFill>
                <a:latin typeface="Arial" pitchFamily="34" charset="0"/>
                <a:ea typeface="Arial" pitchFamily="34" charset="-122"/>
                <a:cs typeface="Arial" pitchFamily="34" charset="-120"/>
              </a:rPr>
              <a:t>Market</a:t>
            </a:r>
            <a:endParaRPr lang="en-US" sz="1800" dirty="0"/>
          </a:p>
        </p:txBody>
      </p:sp>
      <p:sp>
        <p:nvSpPr>
          <p:cNvPr id="7" name="Text 3"/>
          <p:cNvSpPr txBox="1"/>
          <p:nvPr/>
        </p:nvSpPr>
        <p:spPr>
          <a:xfrm>
            <a:off x="457200" y="1463040"/>
            <a:ext cx="11277295" cy="822960"/>
          </a:xfrm>
          <a:prstGeom prst="rect">
            <a:avLst/>
          </a:prstGeom>
          <a:noFill/>
          <a:ln/>
        </p:spPr>
        <p:txBody>
          <a:bodyPr wrap="square" lIns="0" tIns="0" rIns="0" bIns="0" rtlCol="0" anchor="t"/>
          <a:lstStyle/>
          <a:p>
            <a:pPr indent="0" marL="0">
              <a:buNone/>
            </a:pPr>
            <a:r>
              <a:rPr lang="en-US" sz="4000" b="1" dirty="0">
                <a:solidFill>
                  <a:srgbClr val="1C2B5A"/>
                </a:solidFill>
                <a:latin typeface="Arial" pitchFamily="34" charset="0"/>
                <a:ea typeface="Arial" pitchFamily="34" charset="-122"/>
                <a:cs typeface="Arial" pitchFamily="34" charset="-120"/>
              </a:rPr>
              <a:t>Honest arithmetic</a:t>
            </a:r>
            <a:endParaRPr lang="en-US" sz="4000" dirty="0"/>
          </a:p>
        </p:txBody>
      </p:sp>
      <p:sp>
        <p:nvSpPr>
          <p:cNvPr id="8" name="Shape 4"/>
          <p:cNvSpPr/>
          <p:nvPr/>
        </p:nvSpPr>
        <p:spPr>
          <a:xfrm>
            <a:off x="457200" y="2514600"/>
            <a:ext cx="3639312" cy="2926080"/>
          </a:xfrm>
          <a:prstGeom prst="roundRect">
            <a:avLst>
              <a:gd name="adj" fmla="val 4375"/>
            </a:avLst>
          </a:prstGeom>
          <a:solidFill>
            <a:srgbClr val="08B3AE"/>
          </a:solidFill>
          <a:ln w="12700">
            <a:solidFill>
              <a:srgbClr val="08B3AE"/>
            </a:solidFill>
            <a:prstDash val="solid"/>
          </a:ln>
        </p:spPr>
      </p:sp>
      <p:sp>
        <p:nvSpPr>
          <p:cNvPr id="9" name="Text 5"/>
          <p:cNvSpPr txBox="1"/>
          <p:nvPr/>
        </p:nvSpPr>
        <p:spPr>
          <a:xfrm>
            <a:off x="777240" y="2697480"/>
            <a:ext cx="3108960" cy="1463040"/>
          </a:xfrm>
          <a:prstGeom prst="rect">
            <a:avLst/>
          </a:prstGeom>
          <a:noFill/>
          <a:ln/>
        </p:spPr>
        <p:txBody>
          <a:bodyPr wrap="square" lIns="0" tIns="0" rIns="0" bIns="0" rtlCol="0" anchor="t"/>
          <a:lstStyle/>
          <a:p>
            <a:pPr indent="0" marL="0">
              <a:buNone/>
            </a:pPr>
            <a:r>
              <a:rPr lang="en-US" sz="9600" b="1" dirty="0">
                <a:solidFill>
                  <a:srgbClr val="FFFFFF"/>
                </a:solidFill>
                <a:latin typeface="Arial" pitchFamily="34" charset="0"/>
                <a:ea typeface="Arial" pitchFamily="34" charset="-122"/>
                <a:cs typeface="Arial" pitchFamily="34" charset="-120"/>
              </a:rPr>
              <a:t>61</a:t>
            </a:r>
            <a:endParaRPr lang="en-US" sz="9600" dirty="0"/>
          </a:p>
        </p:txBody>
      </p:sp>
      <p:sp>
        <p:nvSpPr>
          <p:cNvPr id="10" name="Text 6"/>
          <p:cNvSpPr txBox="1"/>
          <p:nvPr/>
        </p:nvSpPr>
        <p:spPr>
          <a:xfrm>
            <a:off x="777240" y="4343400"/>
            <a:ext cx="3108960" cy="91440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Albanian municipalities</a:t>
            </a:r>
            <a:endParaRPr lang="en-US" sz="2200" dirty="0"/>
          </a:p>
        </p:txBody>
      </p:sp>
      <p:sp>
        <p:nvSpPr>
          <p:cNvPr id="11" name="Shape 7"/>
          <p:cNvSpPr/>
          <p:nvPr/>
        </p:nvSpPr>
        <p:spPr>
          <a:xfrm>
            <a:off x="4279392" y="2514600"/>
            <a:ext cx="3639312" cy="2926080"/>
          </a:xfrm>
          <a:prstGeom prst="roundRect">
            <a:avLst>
              <a:gd name="adj" fmla="val 4375"/>
            </a:avLst>
          </a:prstGeom>
          <a:solidFill>
            <a:srgbClr val="EFF9F8"/>
          </a:solidFill>
          <a:ln w="12700">
            <a:solidFill>
              <a:srgbClr val="EFF9F8"/>
            </a:solidFill>
            <a:prstDash val="solid"/>
          </a:ln>
        </p:spPr>
      </p:sp>
      <p:sp>
        <p:nvSpPr>
          <p:cNvPr id="12" name="Text 8"/>
          <p:cNvSpPr txBox="1"/>
          <p:nvPr/>
        </p:nvSpPr>
        <p:spPr>
          <a:xfrm>
            <a:off x="4599432" y="2697480"/>
            <a:ext cx="3108960" cy="1463040"/>
          </a:xfrm>
          <a:prstGeom prst="rect">
            <a:avLst/>
          </a:prstGeom>
          <a:noFill/>
          <a:ln/>
        </p:spPr>
        <p:txBody>
          <a:bodyPr wrap="square" lIns="0" tIns="0" rIns="0" bIns="0" rtlCol="0" anchor="t"/>
          <a:lstStyle/>
          <a:p>
            <a:pPr indent="0" marL="0">
              <a:buNone/>
            </a:pPr>
            <a:r>
              <a:rPr lang="en-US" sz="9600" b="1" dirty="0">
                <a:solidFill>
                  <a:srgbClr val="1C2B5A"/>
                </a:solidFill>
                <a:latin typeface="Arial" pitchFamily="34" charset="0"/>
                <a:ea typeface="Arial" pitchFamily="34" charset="-122"/>
                <a:cs typeface="Arial" pitchFamily="34" charset="-120"/>
              </a:rPr>
              <a:t>99</a:t>
            </a:r>
            <a:endParaRPr lang="en-US" sz="9600" dirty="0"/>
          </a:p>
        </p:txBody>
      </p:sp>
      <p:sp>
        <p:nvSpPr>
          <p:cNvPr id="13" name="Text 9"/>
          <p:cNvSpPr txBox="1"/>
          <p:nvPr/>
        </p:nvSpPr>
        <p:spPr>
          <a:xfrm>
            <a:off x="4599432" y="4343400"/>
            <a:ext cx="3108960" cy="914400"/>
          </a:xfrm>
          <a:prstGeom prst="rect">
            <a:avLst/>
          </a:prstGeom>
          <a:noFill/>
          <a:ln/>
        </p:spPr>
        <p:txBody>
          <a:bodyPr wrap="square" lIns="0" tIns="0" rIns="0" bIns="0" rtlCol="0" anchor="t"/>
          <a:lstStyle/>
          <a:p>
            <a:pPr indent="0" marL="0">
              <a:buNone/>
            </a:pPr>
            <a:r>
              <a:rPr lang="en-US" sz="2200" b="1" dirty="0">
                <a:solidFill>
                  <a:srgbClr val="1C2B5A"/>
                </a:solidFill>
                <a:latin typeface="Arial" pitchFamily="34" charset="0"/>
                <a:ea typeface="Arial" pitchFamily="34" charset="-122"/>
                <a:cs typeface="Arial" pitchFamily="34" charset="-120"/>
              </a:rPr>
              <a:t>same reporting duty (AL + XK)</a:t>
            </a:r>
            <a:endParaRPr lang="en-US" sz="2200" dirty="0"/>
          </a:p>
        </p:txBody>
      </p:sp>
      <p:sp>
        <p:nvSpPr>
          <p:cNvPr id="14" name="Shape 10"/>
          <p:cNvSpPr/>
          <p:nvPr/>
        </p:nvSpPr>
        <p:spPr>
          <a:xfrm>
            <a:off x="8101584" y="2514600"/>
            <a:ext cx="3639312" cy="2926080"/>
          </a:xfrm>
          <a:prstGeom prst="roundRect">
            <a:avLst>
              <a:gd name="adj" fmla="val 4375"/>
            </a:avLst>
          </a:prstGeom>
          <a:solidFill>
            <a:srgbClr val="1C2B5A"/>
          </a:solidFill>
          <a:ln w="12700">
            <a:solidFill>
              <a:srgbClr val="1C2B5A"/>
            </a:solidFill>
            <a:prstDash val="solid"/>
          </a:ln>
        </p:spPr>
      </p:sp>
      <p:sp>
        <p:nvSpPr>
          <p:cNvPr id="15" name="Text 11"/>
          <p:cNvSpPr txBox="1"/>
          <p:nvPr/>
        </p:nvSpPr>
        <p:spPr>
          <a:xfrm>
            <a:off x="8421624" y="2697480"/>
            <a:ext cx="3108960" cy="1463040"/>
          </a:xfrm>
          <a:prstGeom prst="rect">
            <a:avLst/>
          </a:prstGeom>
          <a:noFill/>
          <a:ln/>
        </p:spPr>
        <p:txBody>
          <a:bodyPr wrap="square" lIns="0" tIns="0" rIns="0" bIns="0" rtlCol="0" anchor="t"/>
          <a:lstStyle/>
          <a:p>
            <a:pPr indent="0" marL="0">
              <a:buNone/>
            </a:pPr>
            <a:r>
              <a:rPr lang="en-US" sz="9600" b="1" dirty="0">
                <a:solidFill>
                  <a:srgbClr val="FFFFFF"/>
                </a:solidFill>
                <a:latin typeface="Arial" pitchFamily="34" charset="0"/>
                <a:ea typeface="Arial" pitchFamily="34" charset="-122"/>
                <a:cs typeface="Arial" pitchFamily="34" charset="-120"/>
              </a:rPr>
              <a:t>450+</a:t>
            </a:r>
            <a:endParaRPr lang="en-US" sz="9600" dirty="0"/>
          </a:p>
        </p:txBody>
      </p:sp>
      <p:sp>
        <p:nvSpPr>
          <p:cNvPr id="16" name="Text 12"/>
          <p:cNvSpPr txBox="1"/>
          <p:nvPr/>
        </p:nvSpPr>
        <p:spPr>
          <a:xfrm>
            <a:off x="8421624" y="4343400"/>
            <a:ext cx="3108960" cy="91440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Western Balkans</a:t>
            </a:r>
            <a:endParaRPr lang="en-US" sz="2200" dirty="0"/>
          </a:p>
        </p:txBody>
      </p:sp>
      <p:sp>
        <p:nvSpPr>
          <p:cNvPr id="17" name="Text 13"/>
          <p:cNvSpPr txBox="1"/>
          <p:nvPr/>
        </p:nvSpPr>
        <p:spPr>
          <a:xfrm>
            <a:off x="457200" y="5715000"/>
            <a:ext cx="11277295" cy="457200"/>
          </a:xfrm>
          <a:prstGeom prst="rect">
            <a:avLst/>
          </a:prstGeom>
          <a:noFill/>
          <a:ln/>
        </p:spPr>
        <p:txBody>
          <a:bodyPr wrap="square" lIns="0" tIns="0" rIns="0" bIns="0" rtlCol="0" anchor="t"/>
          <a:lstStyle/>
          <a:p>
            <a:pPr indent="0" marL="0">
              <a:buNone/>
            </a:pPr>
            <a:r>
              <a:rPr lang="en-US" sz="2200" dirty="0">
                <a:solidFill>
                  <a:srgbClr val="6B7280"/>
                </a:solidFill>
                <a:latin typeface="Arial" pitchFamily="34" charset="0"/>
                <a:ea typeface="Arial" pitchFamily="34" charset="-122"/>
                <a:cs typeface="Arial" pitchFamily="34" charset="-120"/>
              </a:rPr>
              <a:t>Pilot in Elbasan → replicate through the project partners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Users\greisi\StudioProjects\elbasan-pulse\docs\pitch\assets\ai4society-logo.png">    </p:cNvPr>
          <p:cNvPicPr>
            <a:picLocks noChangeAspect="1"/>
          </p:cNvPicPr>
          <p:nvPr/>
        </p:nvPicPr>
        <p:blipFill>
          <a:blip r:embed="rId1"/>
          <a:stretch>
            <a:fillRect/>
          </a:stretch>
        </p:blipFill>
        <p:spPr>
          <a:xfrm>
            <a:off x="457200" y="292608"/>
            <a:ext cx="1005840" cy="581558"/>
          </a:xfrm>
          <a:prstGeom prst="rect">
            <a:avLst/>
          </a:prstGeom>
        </p:spPr>
      </p:pic>
      <p:pic>
        <p:nvPicPr>
          <p:cNvPr id="3" name="Image 1" descr="C:\Users\greisi\StudioProjects\elbasan-pulse\docs\pitch\assets\sportel-icon.png">    </p:cNvPr>
          <p:cNvPicPr>
            <a:picLocks noChangeAspect="1"/>
          </p:cNvPicPr>
          <p:nvPr/>
        </p:nvPicPr>
        <p:blipFill>
          <a:blip r:embed="rId2"/>
          <a:stretch>
            <a:fillRect/>
          </a:stretch>
        </p:blipFill>
        <p:spPr>
          <a:xfrm>
            <a:off x="1691640" y="329184"/>
            <a:ext cx="658368" cy="510235"/>
          </a:xfrm>
          <a:prstGeom prst="rect">
            <a:avLst/>
          </a:prstGeom>
        </p:spPr>
      </p:pic>
      <p:sp>
        <p:nvSpPr>
          <p:cNvPr id="4" name="Text 0"/>
          <p:cNvSpPr txBox="1"/>
          <p:nvPr/>
        </p:nvSpPr>
        <p:spPr>
          <a:xfrm>
            <a:off x="11277295" y="6400800"/>
            <a:ext cx="457200" cy="274320"/>
          </a:xfrm>
          <a:prstGeom prst="rect">
            <a:avLst/>
          </a:prstGeom>
          <a:noFill/>
          <a:ln/>
        </p:spPr>
        <p:txBody>
          <a:bodyPr wrap="square" lIns="0" tIns="0" rIns="0" bIns="0" rtlCol="0" anchor="t"/>
          <a:lstStyle/>
          <a:p>
            <a:pPr algn="r" indent="0" marL="0">
              <a:buNone/>
            </a:pPr>
            <a:r>
              <a:rPr lang="en-US" sz="1100" b="1" dirty="0">
                <a:solidFill>
                  <a:srgbClr val="6B7280"/>
                </a:solidFill>
                <a:latin typeface="Arial" pitchFamily="34" charset="0"/>
                <a:ea typeface="Arial" pitchFamily="34" charset="-122"/>
                <a:cs typeface="Arial" pitchFamily="34" charset="-120"/>
              </a:rPr>
              <a:t>07</a:t>
            </a:r>
            <a:endParaRPr lang="en-US" sz="1100" dirty="0"/>
          </a:p>
        </p:txBody>
      </p:sp>
      <p:sp>
        <p:nvSpPr>
          <p:cNvPr id="5" name="Text 1"/>
          <p:cNvSpPr txBox="1"/>
          <p:nvPr/>
        </p:nvSpPr>
        <p:spPr>
          <a:xfrm>
            <a:off x="457200" y="6400800"/>
            <a:ext cx="4572000"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Sportel · FirmatGroup</a:t>
            </a:r>
            <a:endParaRPr lang="en-US" sz="1100" dirty="0"/>
          </a:p>
        </p:txBody>
      </p:sp>
      <p:sp>
        <p:nvSpPr>
          <p:cNvPr id="6" name="Text 2"/>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800" b="1" dirty="0">
                <a:solidFill>
                  <a:srgbClr val="0B8F8B"/>
                </a:solidFill>
                <a:latin typeface="Arial" pitchFamily="34" charset="0"/>
                <a:ea typeface="Arial" pitchFamily="34" charset="-122"/>
                <a:cs typeface="Arial" pitchFamily="34" charset="-120"/>
              </a:rPr>
              <a:t>What’s next + cost</a:t>
            </a:r>
            <a:endParaRPr lang="en-US" sz="1800" dirty="0"/>
          </a:p>
        </p:txBody>
      </p:sp>
      <p:sp>
        <p:nvSpPr>
          <p:cNvPr id="7" name="Text 3"/>
          <p:cNvSpPr txBox="1"/>
          <p:nvPr/>
        </p:nvSpPr>
        <p:spPr>
          <a:xfrm>
            <a:off x="457200" y="1463040"/>
            <a:ext cx="11277295" cy="822960"/>
          </a:xfrm>
          <a:prstGeom prst="rect">
            <a:avLst/>
          </a:prstGeom>
          <a:noFill/>
          <a:ln/>
        </p:spPr>
        <p:txBody>
          <a:bodyPr wrap="square" lIns="0" tIns="0" rIns="0" bIns="0" rtlCol="0" anchor="t"/>
          <a:lstStyle/>
          <a:p>
            <a:pPr indent="0" marL="0">
              <a:buNone/>
            </a:pPr>
            <a:r>
              <a:rPr lang="en-US" sz="4000" b="1" dirty="0">
                <a:solidFill>
                  <a:srgbClr val="1C2B5A"/>
                </a:solidFill>
                <a:latin typeface="Arial" pitchFamily="34" charset="0"/>
                <a:ea typeface="Arial" pitchFamily="34" charset="-122"/>
                <a:cs typeface="Arial" pitchFamily="34" charset="-120"/>
              </a:rPr>
              <a:t>Pilot in 4 weeks</a:t>
            </a:r>
            <a:endParaRPr lang="en-US" sz="4000" dirty="0"/>
          </a:p>
        </p:txBody>
      </p:sp>
      <p:sp>
        <p:nvSpPr>
          <p:cNvPr id="8" name="Shape 4"/>
          <p:cNvSpPr/>
          <p:nvPr/>
        </p:nvSpPr>
        <p:spPr>
          <a:xfrm>
            <a:off x="457200" y="2514600"/>
            <a:ext cx="548640" cy="548640"/>
          </a:xfrm>
          <a:prstGeom prst="ellipse">
            <a:avLst/>
          </a:prstGeom>
          <a:solidFill>
            <a:srgbClr val="08B3AE"/>
          </a:solidFill>
          <a:ln w="12700">
            <a:solidFill>
              <a:srgbClr val="08B3AE"/>
            </a:solidFill>
            <a:prstDash val="solid"/>
          </a:ln>
        </p:spPr>
      </p:sp>
      <p:sp>
        <p:nvSpPr>
          <p:cNvPr id="9" name="Text 5"/>
          <p:cNvSpPr txBox="1"/>
          <p:nvPr/>
        </p:nvSpPr>
        <p:spPr>
          <a:xfrm>
            <a:off x="457200" y="25146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W1</a:t>
            </a:r>
            <a:endParaRPr lang="en-US" sz="1600" dirty="0"/>
          </a:p>
        </p:txBody>
      </p:sp>
      <p:sp>
        <p:nvSpPr>
          <p:cNvPr id="10" name="Text 6"/>
          <p:cNvSpPr txBox="1"/>
          <p:nvPr/>
        </p:nvSpPr>
        <p:spPr>
          <a:xfrm>
            <a:off x="1188720" y="2514600"/>
            <a:ext cx="4754880" cy="548640"/>
          </a:xfrm>
          <a:prstGeom prst="rect">
            <a:avLst/>
          </a:prstGeom>
          <a:noFill/>
          <a:ln/>
        </p:spPr>
        <p:txBody>
          <a:bodyPr wrap="square" lIns="0" tIns="0" rIns="0" bIns="0" rtlCol="0" anchor="ctr"/>
          <a:lstStyle/>
          <a:p>
            <a:pPr indent="0" marL="0">
              <a:buNone/>
            </a:pPr>
            <a:r>
              <a:rPr lang="en-US" sz="2200" b="1" dirty="0">
                <a:solidFill>
                  <a:srgbClr val="1C2B5A"/>
                </a:solidFill>
                <a:latin typeface="Arial" pitchFamily="34" charset="0"/>
                <a:ea typeface="Arial" pitchFamily="34" charset="-122"/>
                <a:cs typeface="Arial" pitchFamily="34" charset="-120"/>
              </a:rPr>
              <a:t>Real exports</a:t>
            </a:r>
            <a:endParaRPr lang="en-US" sz="2200" dirty="0"/>
          </a:p>
        </p:txBody>
      </p:sp>
      <p:sp>
        <p:nvSpPr>
          <p:cNvPr id="11" name="Shape 7"/>
          <p:cNvSpPr/>
          <p:nvPr/>
        </p:nvSpPr>
        <p:spPr>
          <a:xfrm>
            <a:off x="457200" y="3227832"/>
            <a:ext cx="548640" cy="548640"/>
          </a:xfrm>
          <a:prstGeom prst="ellipse">
            <a:avLst/>
          </a:prstGeom>
          <a:solidFill>
            <a:srgbClr val="08B3AE"/>
          </a:solidFill>
          <a:ln w="12700">
            <a:solidFill>
              <a:srgbClr val="08B3AE"/>
            </a:solidFill>
            <a:prstDash val="solid"/>
          </a:ln>
        </p:spPr>
      </p:sp>
      <p:sp>
        <p:nvSpPr>
          <p:cNvPr id="12" name="Text 8"/>
          <p:cNvSpPr txBox="1"/>
          <p:nvPr/>
        </p:nvSpPr>
        <p:spPr>
          <a:xfrm>
            <a:off x="457200" y="322783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W2</a:t>
            </a:r>
            <a:endParaRPr lang="en-US" sz="1600" dirty="0"/>
          </a:p>
        </p:txBody>
      </p:sp>
      <p:sp>
        <p:nvSpPr>
          <p:cNvPr id="13" name="Text 9"/>
          <p:cNvSpPr txBox="1"/>
          <p:nvPr/>
        </p:nvSpPr>
        <p:spPr>
          <a:xfrm>
            <a:off x="1188720" y="3227832"/>
            <a:ext cx="4754880" cy="548640"/>
          </a:xfrm>
          <a:prstGeom prst="rect">
            <a:avLst/>
          </a:prstGeom>
          <a:noFill/>
          <a:ln/>
        </p:spPr>
        <p:txBody>
          <a:bodyPr wrap="square" lIns="0" tIns="0" rIns="0" bIns="0" rtlCol="0" anchor="ctr"/>
          <a:lstStyle/>
          <a:p>
            <a:pPr indent="0" marL="0">
              <a:buNone/>
            </a:pPr>
            <a:r>
              <a:rPr lang="en-US" sz="2200" b="1" dirty="0">
                <a:solidFill>
                  <a:srgbClr val="1C2B5A"/>
                </a:solidFill>
                <a:latin typeface="Arial" pitchFamily="34" charset="0"/>
                <a:ea typeface="Arial" pitchFamily="34" charset="-122"/>
                <a:cs typeface="Arial" pitchFamily="34" charset="-120"/>
              </a:rPr>
              <a:t>Validate formulas</a:t>
            </a:r>
            <a:endParaRPr lang="en-US" sz="2200" dirty="0"/>
          </a:p>
        </p:txBody>
      </p:sp>
      <p:sp>
        <p:nvSpPr>
          <p:cNvPr id="14" name="Shape 10"/>
          <p:cNvSpPr/>
          <p:nvPr/>
        </p:nvSpPr>
        <p:spPr>
          <a:xfrm>
            <a:off x="457200" y="3941064"/>
            <a:ext cx="548640" cy="548640"/>
          </a:xfrm>
          <a:prstGeom prst="ellipse">
            <a:avLst/>
          </a:prstGeom>
          <a:solidFill>
            <a:srgbClr val="08B3AE"/>
          </a:solidFill>
          <a:ln w="12700">
            <a:solidFill>
              <a:srgbClr val="08B3AE"/>
            </a:solidFill>
            <a:prstDash val="solid"/>
          </a:ln>
        </p:spPr>
      </p:sp>
      <p:sp>
        <p:nvSpPr>
          <p:cNvPr id="15" name="Text 11"/>
          <p:cNvSpPr txBox="1"/>
          <p:nvPr/>
        </p:nvSpPr>
        <p:spPr>
          <a:xfrm>
            <a:off x="457200" y="394106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W3</a:t>
            </a:r>
            <a:endParaRPr lang="en-US" sz="1600" dirty="0"/>
          </a:p>
        </p:txBody>
      </p:sp>
      <p:sp>
        <p:nvSpPr>
          <p:cNvPr id="16" name="Text 12"/>
          <p:cNvSpPr txBox="1"/>
          <p:nvPr/>
        </p:nvSpPr>
        <p:spPr>
          <a:xfrm>
            <a:off x="1188720" y="3941064"/>
            <a:ext cx="4754880" cy="548640"/>
          </a:xfrm>
          <a:prstGeom prst="rect">
            <a:avLst/>
          </a:prstGeom>
          <a:noFill/>
          <a:ln/>
        </p:spPr>
        <p:txBody>
          <a:bodyPr wrap="square" lIns="0" tIns="0" rIns="0" bIns="0" rtlCol="0" anchor="ctr"/>
          <a:lstStyle/>
          <a:p>
            <a:pPr indent="0" marL="0">
              <a:buNone/>
            </a:pPr>
            <a:r>
              <a:rPr lang="en-US" sz="2200" b="1" dirty="0">
                <a:solidFill>
                  <a:srgbClr val="1C2B5A"/>
                </a:solidFill>
                <a:latin typeface="Arial" pitchFamily="34" charset="0"/>
                <a:ea typeface="Arial" pitchFamily="34" charset="-122"/>
                <a:cs typeface="Arial" pitchFamily="34" charset="-120"/>
              </a:rPr>
              <a:t>Municipal server</a:t>
            </a:r>
            <a:endParaRPr lang="en-US" sz="2200" dirty="0"/>
          </a:p>
        </p:txBody>
      </p:sp>
      <p:sp>
        <p:nvSpPr>
          <p:cNvPr id="17" name="Shape 13"/>
          <p:cNvSpPr/>
          <p:nvPr/>
        </p:nvSpPr>
        <p:spPr>
          <a:xfrm>
            <a:off x="457200" y="4654296"/>
            <a:ext cx="548640" cy="548640"/>
          </a:xfrm>
          <a:prstGeom prst="ellipse">
            <a:avLst/>
          </a:prstGeom>
          <a:solidFill>
            <a:srgbClr val="08B3AE"/>
          </a:solidFill>
          <a:ln w="12700">
            <a:solidFill>
              <a:srgbClr val="08B3AE"/>
            </a:solidFill>
            <a:prstDash val="solid"/>
          </a:ln>
        </p:spPr>
      </p:sp>
      <p:sp>
        <p:nvSpPr>
          <p:cNvPr id="18" name="Text 14"/>
          <p:cNvSpPr txBox="1"/>
          <p:nvPr/>
        </p:nvSpPr>
        <p:spPr>
          <a:xfrm>
            <a:off x="457200" y="465429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W4</a:t>
            </a:r>
            <a:endParaRPr lang="en-US" sz="1600" dirty="0"/>
          </a:p>
        </p:txBody>
      </p:sp>
      <p:sp>
        <p:nvSpPr>
          <p:cNvPr id="19" name="Text 15"/>
          <p:cNvSpPr txBox="1"/>
          <p:nvPr/>
        </p:nvSpPr>
        <p:spPr>
          <a:xfrm>
            <a:off x="1188720" y="4654296"/>
            <a:ext cx="4754880" cy="548640"/>
          </a:xfrm>
          <a:prstGeom prst="rect">
            <a:avLst/>
          </a:prstGeom>
          <a:noFill/>
          <a:ln/>
        </p:spPr>
        <p:txBody>
          <a:bodyPr wrap="square" lIns="0" tIns="0" rIns="0" bIns="0" rtlCol="0" anchor="ctr"/>
          <a:lstStyle/>
          <a:p>
            <a:pPr indent="0" marL="0">
              <a:buNone/>
            </a:pPr>
            <a:r>
              <a:rPr lang="en-US" sz="2200" b="1" dirty="0">
                <a:solidFill>
                  <a:srgbClr val="1C2B5A"/>
                </a:solidFill>
                <a:latin typeface="Arial" pitchFamily="34" charset="0"/>
                <a:ea typeface="Arial" pitchFamily="34" charset="-122"/>
                <a:cs typeface="Arial" pitchFamily="34" charset="-120"/>
              </a:rPr>
              <a:t>Rebuild last year</a:t>
            </a:r>
            <a:endParaRPr lang="en-US" sz="2200" dirty="0"/>
          </a:p>
        </p:txBody>
      </p:sp>
      <p:sp>
        <p:nvSpPr>
          <p:cNvPr id="20" name="Text 16"/>
          <p:cNvSpPr txBox="1"/>
          <p:nvPr/>
        </p:nvSpPr>
        <p:spPr>
          <a:xfrm>
            <a:off x="457200" y="5440680"/>
            <a:ext cx="1097280" cy="457200"/>
          </a:xfrm>
          <a:prstGeom prst="rect">
            <a:avLst/>
          </a:prstGeom>
          <a:noFill/>
          <a:ln/>
        </p:spPr>
        <p:txBody>
          <a:bodyPr wrap="square" lIns="0" tIns="0" rIns="0" bIns="0" rtlCol="0" anchor="ctr"/>
          <a:lstStyle/>
          <a:p>
            <a:pPr indent="0" marL="0">
              <a:buNone/>
            </a:pPr>
            <a:r>
              <a:rPr lang="en-US" sz="1800" b="1" dirty="0">
                <a:solidFill>
                  <a:srgbClr val="6B7280"/>
                </a:solidFill>
                <a:latin typeface="Arial" pitchFamily="34" charset="0"/>
                <a:ea typeface="Arial" pitchFamily="34" charset="-122"/>
                <a:cs typeface="Arial" pitchFamily="34" charset="-120"/>
              </a:rPr>
              <a:t>Then</a:t>
            </a:r>
            <a:endParaRPr lang="en-US" sz="1800" dirty="0"/>
          </a:p>
        </p:txBody>
      </p:sp>
      <p:sp>
        <p:nvSpPr>
          <p:cNvPr id="21" name="Shape 17"/>
          <p:cNvSpPr/>
          <p:nvPr/>
        </p:nvSpPr>
        <p:spPr>
          <a:xfrm>
            <a:off x="1325880" y="5440680"/>
            <a:ext cx="1234440" cy="457200"/>
          </a:xfrm>
          <a:prstGeom prst="roundRect">
            <a:avLst>
              <a:gd name="adj" fmla="val 50000"/>
            </a:avLst>
          </a:prstGeom>
          <a:solidFill>
            <a:srgbClr val="F1F5FB"/>
          </a:solidFill>
          <a:ln w="12700">
            <a:solidFill>
              <a:srgbClr val="F1F5FB"/>
            </a:solidFill>
            <a:prstDash val="solid"/>
          </a:ln>
        </p:spPr>
      </p:sp>
      <p:sp>
        <p:nvSpPr>
          <p:cNvPr id="22" name="Text 18"/>
          <p:cNvSpPr txBox="1"/>
          <p:nvPr/>
        </p:nvSpPr>
        <p:spPr>
          <a:xfrm>
            <a:off x="1325880" y="5440680"/>
            <a:ext cx="1234440" cy="457200"/>
          </a:xfrm>
          <a:prstGeom prst="rect">
            <a:avLst/>
          </a:prstGeom>
          <a:noFill/>
          <a:ln/>
        </p:spPr>
        <p:txBody>
          <a:bodyPr wrap="square" lIns="0" tIns="0" rIns="0" bIns="0" rtlCol="0" anchor="ctr"/>
          <a:lstStyle/>
          <a:p>
            <a:pPr algn="ctr" indent="0" marL="0">
              <a:buNone/>
            </a:pPr>
            <a:r>
              <a:rPr lang="en-US" sz="1500" b="1" dirty="0">
                <a:solidFill>
                  <a:srgbClr val="1C2B5A"/>
                </a:solidFill>
                <a:latin typeface="Arial" pitchFamily="34" charset="0"/>
                <a:ea typeface="Arial" pitchFamily="34" charset="-122"/>
                <a:cs typeface="Arial" pitchFamily="34" charset="-120"/>
              </a:rPr>
              <a:t>Logins</a:t>
            </a:r>
            <a:endParaRPr lang="en-US" sz="1500" dirty="0"/>
          </a:p>
        </p:txBody>
      </p:sp>
      <p:sp>
        <p:nvSpPr>
          <p:cNvPr id="23" name="Shape 19"/>
          <p:cNvSpPr/>
          <p:nvPr/>
        </p:nvSpPr>
        <p:spPr>
          <a:xfrm>
            <a:off x="2697480" y="5440680"/>
            <a:ext cx="2057400" cy="457200"/>
          </a:xfrm>
          <a:prstGeom prst="roundRect">
            <a:avLst>
              <a:gd name="adj" fmla="val 50000"/>
            </a:avLst>
          </a:prstGeom>
          <a:solidFill>
            <a:srgbClr val="F1F5FB"/>
          </a:solidFill>
          <a:ln w="12700">
            <a:solidFill>
              <a:srgbClr val="F1F5FB"/>
            </a:solidFill>
            <a:prstDash val="solid"/>
          </a:ln>
        </p:spPr>
      </p:sp>
      <p:sp>
        <p:nvSpPr>
          <p:cNvPr id="24" name="Text 20"/>
          <p:cNvSpPr txBox="1"/>
          <p:nvPr/>
        </p:nvSpPr>
        <p:spPr>
          <a:xfrm>
            <a:off x="2697480" y="5440680"/>
            <a:ext cx="2057400" cy="457200"/>
          </a:xfrm>
          <a:prstGeom prst="rect">
            <a:avLst/>
          </a:prstGeom>
          <a:noFill/>
          <a:ln/>
        </p:spPr>
        <p:txBody>
          <a:bodyPr wrap="square" lIns="0" tIns="0" rIns="0" bIns="0" rtlCol="0" anchor="ctr"/>
          <a:lstStyle/>
          <a:p>
            <a:pPr algn="ctr" indent="0" marL="0">
              <a:buNone/>
            </a:pPr>
            <a:r>
              <a:rPr lang="en-US" sz="1500" b="1" dirty="0">
                <a:solidFill>
                  <a:srgbClr val="1C2B5A"/>
                </a:solidFill>
                <a:latin typeface="Arial" pitchFamily="34" charset="0"/>
                <a:ea typeface="Arial" pitchFamily="34" charset="-122"/>
                <a:cs typeface="Arial" pitchFamily="34" charset="-120"/>
              </a:rPr>
              <a:t>All 52 indicators</a:t>
            </a:r>
            <a:endParaRPr lang="en-US" sz="1500" dirty="0"/>
          </a:p>
        </p:txBody>
      </p:sp>
      <p:sp>
        <p:nvSpPr>
          <p:cNvPr id="25" name="Shape 21"/>
          <p:cNvSpPr/>
          <p:nvPr/>
        </p:nvSpPr>
        <p:spPr>
          <a:xfrm>
            <a:off x="4892040" y="5440680"/>
            <a:ext cx="1828800" cy="457200"/>
          </a:xfrm>
          <a:prstGeom prst="roundRect">
            <a:avLst>
              <a:gd name="adj" fmla="val 50000"/>
            </a:avLst>
          </a:prstGeom>
          <a:solidFill>
            <a:srgbClr val="F1F5FB"/>
          </a:solidFill>
          <a:ln w="12700">
            <a:solidFill>
              <a:srgbClr val="F1F5FB"/>
            </a:solidFill>
            <a:prstDash val="solid"/>
          </a:ln>
        </p:spPr>
      </p:sp>
      <p:sp>
        <p:nvSpPr>
          <p:cNvPr id="26" name="Text 22"/>
          <p:cNvSpPr txBox="1"/>
          <p:nvPr/>
        </p:nvSpPr>
        <p:spPr>
          <a:xfrm>
            <a:off x="4892040" y="5440680"/>
            <a:ext cx="1828800" cy="457200"/>
          </a:xfrm>
          <a:prstGeom prst="rect">
            <a:avLst/>
          </a:prstGeom>
          <a:noFill/>
          <a:ln/>
        </p:spPr>
        <p:txBody>
          <a:bodyPr wrap="square" lIns="0" tIns="0" rIns="0" bIns="0" rtlCol="0" anchor="ctr"/>
          <a:lstStyle/>
          <a:p>
            <a:pPr algn="ctr" indent="0" marL="0">
              <a:buNone/>
            </a:pPr>
            <a:r>
              <a:rPr lang="en-US" sz="1500" b="1" dirty="0">
                <a:solidFill>
                  <a:srgbClr val="1C2B5A"/>
                </a:solidFill>
                <a:latin typeface="Arial" pitchFamily="34" charset="0"/>
                <a:ea typeface="Arial" pitchFamily="34" charset="-122"/>
                <a:cs typeface="Arial" pitchFamily="34" charset="-120"/>
              </a:rPr>
              <a:t>Feed city AI</a:t>
            </a:r>
            <a:endParaRPr lang="en-US" sz="1500" dirty="0"/>
          </a:p>
        </p:txBody>
      </p:sp>
      <p:sp>
        <p:nvSpPr>
          <p:cNvPr id="27" name="Shape 23"/>
          <p:cNvSpPr/>
          <p:nvPr/>
        </p:nvSpPr>
        <p:spPr>
          <a:xfrm>
            <a:off x="6949440" y="2514600"/>
            <a:ext cx="4782312" cy="3383280"/>
          </a:xfrm>
          <a:prstGeom prst="roundRect">
            <a:avLst>
              <a:gd name="adj" fmla="val 3784"/>
            </a:avLst>
          </a:prstGeom>
          <a:solidFill>
            <a:srgbClr val="1C2B5A"/>
          </a:solidFill>
          <a:ln w="12700">
            <a:solidFill>
              <a:srgbClr val="1C2B5A"/>
            </a:solidFill>
            <a:prstDash val="solid"/>
          </a:ln>
        </p:spPr>
      </p:sp>
      <p:sp>
        <p:nvSpPr>
          <p:cNvPr id="28" name="Text 24"/>
          <p:cNvSpPr txBox="1"/>
          <p:nvPr/>
        </p:nvSpPr>
        <p:spPr>
          <a:xfrm>
            <a:off x="7223760" y="2697480"/>
            <a:ext cx="2377440" cy="640080"/>
          </a:xfrm>
          <a:prstGeom prst="rect">
            <a:avLst/>
          </a:prstGeom>
          <a:noFill/>
          <a:ln/>
        </p:spPr>
        <p:txBody>
          <a:bodyPr wrap="square" lIns="0" tIns="0" rIns="0" bIns="0" rtlCol="0" anchor="ctr"/>
          <a:lstStyle/>
          <a:p>
            <a:pPr indent="0" marL="0">
              <a:buNone/>
            </a:pPr>
            <a:r>
              <a:rPr lang="en-US" sz="2000" dirty="0">
                <a:solidFill>
                  <a:srgbClr val="D6DEF2"/>
                </a:solidFill>
                <a:latin typeface="Arial" pitchFamily="34" charset="0"/>
                <a:ea typeface="Arial" pitchFamily="34" charset="-122"/>
                <a:cs typeface="Arial" pitchFamily="34" charset="-120"/>
              </a:rPr>
              <a:t>Build</a:t>
            </a:r>
            <a:endParaRPr lang="en-US" sz="2000" dirty="0"/>
          </a:p>
        </p:txBody>
      </p:sp>
      <p:sp>
        <p:nvSpPr>
          <p:cNvPr id="29" name="Text 25"/>
          <p:cNvSpPr txBox="1"/>
          <p:nvPr/>
        </p:nvSpPr>
        <p:spPr>
          <a:xfrm>
            <a:off x="9418320" y="2697480"/>
            <a:ext cx="2039112" cy="640080"/>
          </a:xfrm>
          <a:prstGeom prst="rect">
            <a:avLst/>
          </a:prstGeom>
          <a:noFill/>
          <a:ln/>
        </p:spPr>
        <p:txBody>
          <a:bodyPr wrap="square" lIns="0" tIns="0" rIns="0" bIns="0" rtlCol="0" anchor="ctr"/>
          <a:lstStyle/>
          <a:p>
            <a:pPr algn="r" indent="0" marL="0">
              <a:buNone/>
            </a:pPr>
            <a:r>
              <a:rPr lang="en-US" sz="2800" b="1" dirty="0">
                <a:solidFill>
                  <a:srgbClr val="7CE8E3"/>
                </a:solidFill>
                <a:latin typeface="Arial" pitchFamily="34" charset="0"/>
                <a:ea typeface="Arial" pitchFamily="34" charset="-122"/>
                <a:cs typeface="Arial" pitchFamily="34" charset="-120"/>
              </a:rPr>
              <a:t>€8–12k</a:t>
            </a:r>
            <a:endParaRPr lang="en-US" sz="2800" dirty="0"/>
          </a:p>
        </p:txBody>
      </p:sp>
      <p:sp>
        <p:nvSpPr>
          <p:cNvPr id="30" name="Shape 26"/>
          <p:cNvSpPr/>
          <p:nvPr/>
        </p:nvSpPr>
        <p:spPr>
          <a:xfrm>
            <a:off x="7223760" y="3419856"/>
            <a:ext cx="4233672" cy="0"/>
          </a:xfrm>
          <a:prstGeom prst="line">
            <a:avLst/>
          </a:prstGeom>
          <a:noFill/>
          <a:ln w="12700">
            <a:solidFill>
              <a:srgbClr val="27376B"/>
            </a:solidFill>
            <a:prstDash val="solid"/>
          </a:ln>
        </p:spPr>
      </p:sp>
      <p:sp>
        <p:nvSpPr>
          <p:cNvPr id="31" name="Text 27"/>
          <p:cNvSpPr txBox="1"/>
          <p:nvPr/>
        </p:nvSpPr>
        <p:spPr>
          <a:xfrm>
            <a:off x="7223760" y="3474720"/>
            <a:ext cx="2377440" cy="640080"/>
          </a:xfrm>
          <a:prstGeom prst="rect">
            <a:avLst/>
          </a:prstGeom>
          <a:noFill/>
          <a:ln/>
        </p:spPr>
        <p:txBody>
          <a:bodyPr wrap="square" lIns="0" tIns="0" rIns="0" bIns="0" rtlCol="0" anchor="ctr"/>
          <a:lstStyle/>
          <a:p>
            <a:pPr indent="0" marL="0">
              <a:buNone/>
            </a:pPr>
            <a:r>
              <a:rPr lang="en-US" sz="2000" dirty="0">
                <a:solidFill>
                  <a:srgbClr val="D6DEF2"/>
                </a:solidFill>
                <a:latin typeface="Arial" pitchFamily="34" charset="0"/>
                <a:ea typeface="Arial" pitchFamily="34" charset="-122"/>
                <a:cs typeface="Arial" pitchFamily="34" charset="-120"/>
              </a:rPr>
              <a:t>Pilot setup</a:t>
            </a:r>
            <a:endParaRPr lang="en-US" sz="2000" dirty="0"/>
          </a:p>
        </p:txBody>
      </p:sp>
      <p:sp>
        <p:nvSpPr>
          <p:cNvPr id="32" name="Text 28"/>
          <p:cNvSpPr txBox="1"/>
          <p:nvPr/>
        </p:nvSpPr>
        <p:spPr>
          <a:xfrm>
            <a:off x="9418320" y="3474720"/>
            <a:ext cx="2039112" cy="640080"/>
          </a:xfrm>
          <a:prstGeom prst="rect">
            <a:avLst/>
          </a:prstGeom>
          <a:noFill/>
          <a:ln/>
        </p:spPr>
        <p:txBody>
          <a:bodyPr wrap="square" lIns="0" tIns="0" rIns="0" bIns="0" rtlCol="0" anchor="ctr"/>
          <a:lstStyle/>
          <a:p>
            <a:pPr algn="r" indent="0" marL="0">
              <a:buNone/>
            </a:pPr>
            <a:r>
              <a:rPr lang="en-US" sz="2800" b="1" dirty="0">
                <a:solidFill>
                  <a:srgbClr val="7CE8E3"/>
                </a:solidFill>
                <a:latin typeface="Arial" pitchFamily="34" charset="0"/>
                <a:ea typeface="Arial" pitchFamily="34" charset="-122"/>
                <a:cs typeface="Arial" pitchFamily="34" charset="-120"/>
              </a:rPr>
              <a:t>€2–4k</a:t>
            </a:r>
            <a:endParaRPr lang="en-US" sz="2800" dirty="0"/>
          </a:p>
        </p:txBody>
      </p:sp>
      <p:sp>
        <p:nvSpPr>
          <p:cNvPr id="33" name="Shape 29"/>
          <p:cNvSpPr/>
          <p:nvPr/>
        </p:nvSpPr>
        <p:spPr>
          <a:xfrm>
            <a:off x="7223760" y="4197096"/>
            <a:ext cx="4233672" cy="0"/>
          </a:xfrm>
          <a:prstGeom prst="line">
            <a:avLst/>
          </a:prstGeom>
          <a:noFill/>
          <a:ln w="12700">
            <a:solidFill>
              <a:srgbClr val="27376B"/>
            </a:solidFill>
            <a:prstDash val="solid"/>
          </a:ln>
        </p:spPr>
      </p:sp>
      <p:sp>
        <p:nvSpPr>
          <p:cNvPr id="34" name="Text 30"/>
          <p:cNvSpPr txBox="1"/>
          <p:nvPr/>
        </p:nvSpPr>
        <p:spPr>
          <a:xfrm>
            <a:off x="7223760" y="4251960"/>
            <a:ext cx="2377440" cy="640080"/>
          </a:xfrm>
          <a:prstGeom prst="rect">
            <a:avLst/>
          </a:prstGeom>
          <a:noFill/>
          <a:ln/>
        </p:spPr>
        <p:txBody>
          <a:bodyPr wrap="square" lIns="0" tIns="0" rIns="0" bIns="0" rtlCol="0" anchor="ctr"/>
          <a:lstStyle/>
          <a:p>
            <a:pPr indent="0" marL="0">
              <a:buNone/>
            </a:pPr>
            <a:r>
              <a:rPr lang="en-US" sz="2000" dirty="0">
                <a:solidFill>
                  <a:srgbClr val="D6DEF2"/>
                </a:solidFill>
                <a:latin typeface="Arial" pitchFamily="34" charset="0"/>
                <a:ea typeface="Arial" pitchFamily="34" charset="-122"/>
                <a:cs typeface="Arial" pitchFamily="34" charset="-120"/>
              </a:rPr>
              <a:t>Run / month</a:t>
            </a:r>
            <a:endParaRPr lang="en-US" sz="2000" dirty="0"/>
          </a:p>
        </p:txBody>
      </p:sp>
      <p:sp>
        <p:nvSpPr>
          <p:cNvPr id="35" name="Text 31"/>
          <p:cNvSpPr txBox="1"/>
          <p:nvPr/>
        </p:nvSpPr>
        <p:spPr>
          <a:xfrm>
            <a:off x="9418320" y="4251960"/>
            <a:ext cx="2039112" cy="640080"/>
          </a:xfrm>
          <a:prstGeom prst="rect">
            <a:avLst/>
          </a:prstGeom>
          <a:noFill/>
          <a:ln/>
        </p:spPr>
        <p:txBody>
          <a:bodyPr wrap="square" lIns="0" tIns="0" rIns="0" bIns="0" rtlCol="0" anchor="ctr"/>
          <a:lstStyle/>
          <a:p>
            <a:pPr algn="r" indent="0" marL="0">
              <a:buNone/>
            </a:pPr>
            <a:r>
              <a:rPr lang="en-US" sz="2800" b="1" dirty="0">
                <a:solidFill>
                  <a:srgbClr val="7CE8E3"/>
                </a:solidFill>
                <a:latin typeface="Arial" pitchFamily="34" charset="0"/>
                <a:ea typeface="Arial" pitchFamily="34" charset="-122"/>
                <a:cs typeface="Arial" pitchFamily="34" charset="-120"/>
              </a:rPr>
              <a:t>&lt; €100</a:t>
            </a:r>
            <a:endParaRPr lang="en-US" sz="2800" dirty="0"/>
          </a:p>
        </p:txBody>
      </p:sp>
      <p:sp>
        <p:nvSpPr>
          <p:cNvPr id="36" name="Shape 32"/>
          <p:cNvSpPr/>
          <p:nvPr/>
        </p:nvSpPr>
        <p:spPr>
          <a:xfrm>
            <a:off x="7223760" y="4974336"/>
            <a:ext cx="4233672" cy="0"/>
          </a:xfrm>
          <a:prstGeom prst="line">
            <a:avLst/>
          </a:prstGeom>
          <a:noFill/>
          <a:ln w="12700">
            <a:solidFill>
              <a:srgbClr val="27376B"/>
            </a:solidFill>
            <a:prstDash val="solid"/>
          </a:ln>
        </p:spPr>
      </p:sp>
      <p:sp>
        <p:nvSpPr>
          <p:cNvPr id="37" name="Text 33"/>
          <p:cNvSpPr txBox="1"/>
          <p:nvPr/>
        </p:nvSpPr>
        <p:spPr>
          <a:xfrm>
            <a:off x="7223760" y="5029200"/>
            <a:ext cx="2377440" cy="640080"/>
          </a:xfrm>
          <a:prstGeom prst="rect">
            <a:avLst/>
          </a:prstGeom>
          <a:noFill/>
          <a:ln/>
        </p:spPr>
        <p:txBody>
          <a:bodyPr wrap="square" lIns="0" tIns="0" rIns="0" bIns="0" rtlCol="0" anchor="ctr"/>
          <a:lstStyle/>
          <a:p>
            <a:pPr indent="0" marL="0">
              <a:buNone/>
            </a:pPr>
            <a:r>
              <a:rPr lang="en-US" sz="2000" dirty="0">
                <a:solidFill>
                  <a:srgbClr val="D6DEF2"/>
                </a:solidFill>
                <a:latin typeface="Arial" pitchFamily="34" charset="0"/>
                <a:ea typeface="Arial" pitchFamily="34" charset="-122"/>
                <a:cs typeface="Arial" pitchFamily="34" charset="-120"/>
              </a:rPr>
              <a:t>Maintain / year</a:t>
            </a:r>
            <a:endParaRPr lang="en-US" sz="2000" dirty="0"/>
          </a:p>
        </p:txBody>
      </p:sp>
      <p:sp>
        <p:nvSpPr>
          <p:cNvPr id="38" name="Text 34"/>
          <p:cNvSpPr txBox="1"/>
          <p:nvPr/>
        </p:nvSpPr>
        <p:spPr>
          <a:xfrm>
            <a:off x="9418320" y="5029200"/>
            <a:ext cx="2039112" cy="640080"/>
          </a:xfrm>
          <a:prstGeom prst="rect">
            <a:avLst/>
          </a:prstGeom>
          <a:noFill/>
          <a:ln/>
        </p:spPr>
        <p:txBody>
          <a:bodyPr wrap="square" lIns="0" tIns="0" rIns="0" bIns="0" rtlCol="0" anchor="ctr"/>
          <a:lstStyle/>
          <a:p>
            <a:pPr algn="r" indent="0" marL="0">
              <a:buNone/>
            </a:pPr>
            <a:r>
              <a:rPr lang="en-US" sz="2800" b="1" dirty="0">
                <a:solidFill>
                  <a:srgbClr val="7CE8E3"/>
                </a:solidFill>
                <a:latin typeface="Arial" pitchFamily="34" charset="0"/>
                <a:ea typeface="Arial" pitchFamily="34" charset="-122"/>
                <a:cs typeface="Arial" pitchFamily="34" charset="-120"/>
              </a:rPr>
              <a:t>€4–6k</a:t>
            </a:r>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Users\greisi\StudioProjects\elbasan-pulse\docs\pitch\assets\ai4society-logo.png">    </p:cNvPr>
          <p:cNvPicPr>
            <a:picLocks noChangeAspect="1"/>
          </p:cNvPicPr>
          <p:nvPr/>
        </p:nvPicPr>
        <p:blipFill>
          <a:blip r:embed="rId1"/>
          <a:stretch>
            <a:fillRect/>
          </a:stretch>
        </p:blipFill>
        <p:spPr>
          <a:xfrm>
            <a:off x="457200" y="292608"/>
            <a:ext cx="1005840" cy="581558"/>
          </a:xfrm>
          <a:prstGeom prst="rect">
            <a:avLst/>
          </a:prstGeom>
        </p:spPr>
      </p:pic>
      <p:pic>
        <p:nvPicPr>
          <p:cNvPr id="3" name="Image 1" descr="C:\Users\greisi\StudioProjects\elbasan-pulse\docs\pitch\assets\sportel-icon.png">    </p:cNvPr>
          <p:cNvPicPr>
            <a:picLocks noChangeAspect="1"/>
          </p:cNvPicPr>
          <p:nvPr/>
        </p:nvPicPr>
        <p:blipFill>
          <a:blip r:embed="rId2"/>
          <a:stretch>
            <a:fillRect/>
          </a:stretch>
        </p:blipFill>
        <p:spPr>
          <a:xfrm>
            <a:off x="1691640" y="329184"/>
            <a:ext cx="658368" cy="510235"/>
          </a:xfrm>
          <a:prstGeom prst="rect">
            <a:avLst/>
          </a:prstGeom>
        </p:spPr>
      </p:pic>
      <p:sp>
        <p:nvSpPr>
          <p:cNvPr id="4" name="Text 0"/>
          <p:cNvSpPr txBox="1"/>
          <p:nvPr/>
        </p:nvSpPr>
        <p:spPr>
          <a:xfrm>
            <a:off x="11277295" y="6400800"/>
            <a:ext cx="457200" cy="274320"/>
          </a:xfrm>
          <a:prstGeom prst="rect">
            <a:avLst/>
          </a:prstGeom>
          <a:noFill/>
          <a:ln/>
        </p:spPr>
        <p:txBody>
          <a:bodyPr wrap="square" lIns="0" tIns="0" rIns="0" bIns="0" rtlCol="0" anchor="t"/>
          <a:lstStyle/>
          <a:p>
            <a:pPr algn="r" indent="0" marL="0">
              <a:buNone/>
            </a:pPr>
            <a:r>
              <a:rPr lang="en-US" sz="1100" b="1" dirty="0">
                <a:solidFill>
                  <a:srgbClr val="6B7280"/>
                </a:solidFill>
                <a:latin typeface="Arial" pitchFamily="34" charset="0"/>
                <a:ea typeface="Arial" pitchFamily="34" charset="-122"/>
                <a:cs typeface="Arial" pitchFamily="34" charset="-120"/>
              </a:rPr>
              <a:t>08</a:t>
            </a:r>
            <a:endParaRPr lang="en-US" sz="1100" dirty="0"/>
          </a:p>
        </p:txBody>
      </p:sp>
      <p:sp>
        <p:nvSpPr>
          <p:cNvPr id="5" name="Text 1"/>
          <p:cNvSpPr txBox="1"/>
          <p:nvPr/>
        </p:nvSpPr>
        <p:spPr>
          <a:xfrm>
            <a:off x="457200" y="6400800"/>
            <a:ext cx="4572000"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Sportel · FirmatGroup</a:t>
            </a:r>
            <a:endParaRPr lang="en-US" sz="1100" dirty="0"/>
          </a:p>
        </p:txBody>
      </p:sp>
      <p:sp>
        <p:nvSpPr>
          <p:cNvPr id="6" name="Text 2"/>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800" b="1" dirty="0">
                <a:solidFill>
                  <a:srgbClr val="0B8F8B"/>
                </a:solidFill>
                <a:latin typeface="Arial" pitchFamily="34" charset="0"/>
                <a:ea typeface="Arial" pitchFamily="34" charset="-122"/>
                <a:cs typeface="Arial" pitchFamily="34" charset="-120"/>
              </a:rPr>
              <a:t>Team</a:t>
            </a:r>
            <a:endParaRPr lang="en-US" sz="1800" dirty="0"/>
          </a:p>
        </p:txBody>
      </p:sp>
      <p:sp>
        <p:nvSpPr>
          <p:cNvPr id="7" name="Text 3"/>
          <p:cNvSpPr txBox="1"/>
          <p:nvPr/>
        </p:nvSpPr>
        <p:spPr>
          <a:xfrm>
            <a:off x="457200" y="1463040"/>
            <a:ext cx="11277295" cy="822960"/>
          </a:xfrm>
          <a:prstGeom prst="rect">
            <a:avLst/>
          </a:prstGeom>
          <a:noFill/>
          <a:ln/>
        </p:spPr>
        <p:txBody>
          <a:bodyPr wrap="square" lIns="0" tIns="0" rIns="0" bIns="0" rtlCol="0" anchor="t"/>
          <a:lstStyle/>
          <a:p>
            <a:pPr indent="0" marL="0">
              <a:buNone/>
            </a:pPr>
            <a:r>
              <a:rPr lang="en-US" sz="4000" b="1" dirty="0">
                <a:solidFill>
                  <a:srgbClr val="1C2B5A"/>
                </a:solidFill>
                <a:latin typeface="Arial" pitchFamily="34" charset="0"/>
                <a:ea typeface="Arial" pitchFamily="34" charset="-122"/>
                <a:cs typeface="Arial" pitchFamily="34" charset="-120"/>
              </a:rPr>
              <a:t>FirmatGroup</a:t>
            </a:r>
            <a:endParaRPr lang="en-US" sz="4000" dirty="0"/>
          </a:p>
        </p:txBody>
      </p:sp>
      <p:sp>
        <p:nvSpPr>
          <p:cNvPr id="8" name="Shape 4"/>
          <p:cNvSpPr/>
          <p:nvPr/>
        </p:nvSpPr>
        <p:spPr>
          <a:xfrm>
            <a:off x="457200" y="2514600"/>
            <a:ext cx="2613584" cy="1965960"/>
          </a:xfrm>
          <a:prstGeom prst="roundRect">
            <a:avLst>
              <a:gd name="adj" fmla="val 6512"/>
            </a:avLst>
          </a:prstGeom>
          <a:solidFill>
            <a:srgbClr val="EFF9F8"/>
          </a:solidFill>
          <a:ln w="12700">
            <a:solidFill>
              <a:srgbClr val="EFF9F8"/>
            </a:solidFill>
            <a:prstDash val="solid"/>
          </a:ln>
        </p:spPr>
      </p:sp>
      <p:sp>
        <p:nvSpPr>
          <p:cNvPr id="9" name="Shape 5"/>
          <p:cNvSpPr/>
          <p:nvPr/>
        </p:nvSpPr>
        <p:spPr>
          <a:xfrm>
            <a:off x="731520" y="2697480"/>
            <a:ext cx="685800" cy="685800"/>
          </a:xfrm>
          <a:prstGeom prst="ellipse">
            <a:avLst/>
          </a:prstGeom>
          <a:solidFill>
            <a:srgbClr val="08B3AE"/>
          </a:solidFill>
          <a:ln w="12700">
            <a:solidFill>
              <a:srgbClr val="08B3AE"/>
            </a:solidFill>
            <a:prstDash val="solid"/>
          </a:ln>
        </p:spPr>
      </p:sp>
      <p:pic>
        <p:nvPicPr>
          <p:cNvPr id="10" name="Image 2" descr="preencoded.png">    </p:cNvPr>
          <p:cNvPicPr>
            <a:picLocks noChangeAspect="1"/>
          </p:cNvPicPr>
          <p:nvPr/>
        </p:nvPicPr>
        <p:blipFill>
          <a:blip r:embed="rId3"/>
          <a:stretch>
            <a:fillRect/>
          </a:stretch>
        </p:blipFill>
        <p:spPr>
          <a:xfrm>
            <a:off x="902970" y="2868930"/>
            <a:ext cx="342900" cy="342900"/>
          </a:xfrm>
          <a:prstGeom prst="rect">
            <a:avLst/>
          </a:prstGeom>
        </p:spPr>
      </p:pic>
      <p:sp>
        <p:nvSpPr>
          <p:cNvPr id="11" name="Text 6"/>
          <p:cNvSpPr txBox="1"/>
          <p:nvPr/>
        </p:nvSpPr>
        <p:spPr>
          <a:xfrm>
            <a:off x="731520" y="3520440"/>
            <a:ext cx="2156384" cy="411480"/>
          </a:xfrm>
          <a:prstGeom prst="rect">
            <a:avLst/>
          </a:prstGeom>
          <a:noFill/>
          <a:ln/>
        </p:spPr>
        <p:txBody>
          <a:bodyPr wrap="square" lIns="0" tIns="0" rIns="0" bIns="0" rtlCol="0" anchor="t"/>
          <a:lstStyle/>
          <a:p>
            <a:pPr indent="0" marL="0">
              <a:buNone/>
            </a:pPr>
            <a:r>
              <a:rPr lang="en-US" sz="2200" b="1" dirty="0">
                <a:solidFill>
                  <a:srgbClr val="1C2B5A"/>
                </a:solidFill>
                <a:latin typeface="Arial" pitchFamily="34" charset="0"/>
                <a:ea typeface="Arial" pitchFamily="34" charset="-122"/>
                <a:cs typeface="Arial" pitchFamily="34" charset="-120"/>
              </a:rPr>
              <a:t>[Name]</a:t>
            </a:r>
            <a:endParaRPr lang="en-US" sz="2200" dirty="0"/>
          </a:p>
        </p:txBody>
      </p:sp>
      <p:sp>
        <p:nvSpPr>
          <p:cNvPr id="12" name="Text 7"/>
          <p:cNvSpPr txBox="1"/>
          <p:nvPr/>
        </p:nvSpPr>
        <p:spPr>
          <a:xfrm>
            <a:off x="731520" y="3931920"/>
            <a:ext cx="2156384" cy="411480"/>
          </a:xfrm>
          <a:prstGeom prst="rect">
            <a:avLst/>
          </a:prstGeom>
          <a:noFill/>
          <a:ln/>
        </p:spPr>
        <p:txBody>
          <a:bodyPr wrap="square" lIns="0" tIns="0" rIns="0" bIns="0" rtlCol="0" anchor="t"/>
          <a:lstStyle/>
          <a:p>
            <a:pPr indent="0" marL="0">
              <a:buNone/>
            </a:pPr>
            <a:r>
              <a:rPr lang="en-US" sz="1800" dirty="0">
                <a:solidFill>
                  <a:srgbClr val="6B7280"/>
                </a:solidFill>
                <a:latin typeface="Arial" pitchFamily="34" charset="0"/>
                <a:ea typeface="Arial" pitchFamily="34" charset="-122"/>
                <a:cs typeface="Arial" pitchFamily="34" charset="-120"/>
              </a:rPr>
              <a:t>Problem &amp; users</a:t>
            </a:r>
            <a:endParaRPr lang="en-US" sz="1800" dirty="0"/>
          </a:p>
        </p:txBody>
      </p:sp>
      <p:sp>
        <p:nvSpPr>
          <p:cNvPr id="13" name="Shape 8"/>
          <p:cNvSpPr/>
          <p:nvPr/>
        </p:nvSpPr>
        <p:spPr>
          <a:xfrm>
            <a:off x="3345104" y="2514600"/>
            <a:ext cx="2613584" cy="1965960"/>
          </a:xfrm>
          <a:prstGeom prst="roundRect">
            <a:avLst>
              <a:gd name="adj" fmla="val 6512"/>
            </a:avLst>
          </a:prstGeom>
          <a:solidFill>
            <a:srgbClr val="F1F5FB"/>
          </a:solidFill>
          <a:ln w="12700">
            <a:solidFill>
              <a:srgbClr val="F1F5FB"/>
            </a:solidFill>
            <a:prstDash val="solid"/>
          </a:ln>
        </p:spPr>
      </p:sp>
      <p:sp>
        <p:nvSpPr>
          <p:cNvPr id="14" name="Shape 9"/>
          <p:cNvSpPr/>
          <p:nvPr/>
        </p:nvSpPr>
        <p:spPr>
          <a:xfrm>
            <a:off x="3619424" y="2697480"/>
            <a:ext cx="685800" cy="685800"/>
          </a:xfrm>
          <a:prstGeom prst="ellipse">
            <a:avLst/>
          </a:prstGeom>
          <a:solidFill>
            <a:srgbClr val="1C2B5A"/>
          </a:solidFill>
          <a:ln w="12700">
            <a:solidFill>
              <a:srgbClr val="1C2B5A"/>
            </a:solidFill>
            <a:prstDash val="solid"/>
          </a:ln>
        </p:spPr>
      </p:sp>
      <p:pic>
        <p:nvPicPr>
          <p:cNvPr id="15" name="Image 3" descr="preencoded.png">    </p:cNvPr>
          <p:cNvPicPr>
            <a:picLocks noChangeAspect="1"/>
          </p:cNvPicPr>
          <p:nvPr/>
        </p:nvPicPr>
        <p:blipFill>
          <a:blip r:embed="rId4"/>
          <a:stretch>
            <a:fillRect/>
          </a:stretch>
        </p:blipFill>
        <p:spPr>
          <a:xfrm>
            <a:off x="3790874" y="2868930"/>
            <a:ext cx="342900" cy="342900"/>
          </a:xfrm>
          <a:prstGeom prst="rect">
            <a:avLst/>
          </a:prstGeom>
        </p:spPr>
      </p:pic>
      <p:sp>
        <p:nvSpPr>
          <p:cNvPr id="16" name="Text 10"/>
          <p:cNvSpPr txBox="1"/>
          <p:nvPr/>
        </p:nvSpPr>
        <p:spPr>
          <a:xfrm>
            <a:off x="3619424" y="3520440"/>
            <a:ext cx="2156384" cy="411480"/>
          </a:xfrm>
          <a:prstGeom prst="rect">
            <a:avLst/>
          </a:prstGeom>
          <a:noFill/>
          <a:ln/>
        </p:spPr>
        <p:txBody>
          <a:bodyPr wrap="square" lIns="0" tIns="0" rIns="0" bIns="0" rtlCol="0" anchor="t"/>
          <a:lstStyle/>
          <a:p>
            <a:pPr indent="0" marL="0">
              <a:buNone/>
            </a:pPr>
            <a:r>
              <a:rPr lang="en-US" sz="2200" b="1" dirty="0">
                <a:solidFill>
                  <a:srgbClr val="1C2B5A"/>
                </a:solidFill>
                <a:latin typeface="Arial" pitchFamily="34" charset="0"/>
                <a:ea typeface="Arial" pitchFamily="34" charset="-122"/>
                <a:cs typeface="Arial" pitchFamily="34" charset="-120"/>
              </a:rPr>
              <a:t>[Name]</a:t>
            </a:r>
            <a:endParaRPr lang="en-US" sz="2200" dirty="0"/>
          </a:p>
        </p:txBody>
      </p:sp>
      <p:sp>
        <p:nvSpPr>
          <p:cNvPr id="17" name="Text 11"/>
          <p:cNvSpPr txBox="1"/>
          <p:nvPr/>
        </p:nvSpPr>
        <p:spPr>
          <a:xfrm>
            <a:off x="3619424" y="3931920"/>
            <a:ext cx="2156384" cy="411480"/>
          </a:xfrm>
          <a:prstGeom prst="rect">
            <a:avLst/>
          </a:prstGeom>
          <a:noFill/>
          <a:ln/>
        </p:spPr>
        <p:txBody>
          <a:bodyPr wrap="square" lIns="0" tIns="0" rIns="0" bIns="0" rtlCol="0" anchor="t"/>
          <a:lstStyle/>
          <a:p>
            <a:pPr indent="0" marL="0">
              <a:buNone/>
            </a:pPr>
            <a:r>
              <a:rPr lang="en-US" sz="1800" dirty="0">
                <a:solidFill>
                  <a:srgbClr val="6B7280"/>
                </a:solidFill>
                <a:latin typeface="Arial" pitchFamily="34" charset="0"/>
                <a:ea typeface="Arial" pitchFamily="34" charset="-122"/>
                <a:cs typeface="Arial" pitchFamily="34" charset="-120"/>
              </a:rPr>
              <a:t>Demo &amp; product</a:t>
            </a:r>
            <a:endParaRPr lang="en-US" sz="1800" dirty="0"/>
          </a:p>
        </p:txBody>
      </p:sp>
      <p:sp>
        <p:nvSpPr>
          <p:cNvPr id="18" name="Shape 12"/>
          <p:cNvSpPr/>
          <p:nvPr/>
        </p:nvSpPr>
        <p:spPr>
          <a:xfrm>
            <a:off x="6233008" y="2514600"/>
            <a:ext cx="2613584" cy="1965960"/>
          </a:xfrm>
          <a:prstGeom prst="roundRect">
            <a:avLst>
              <a:gd name="adj" fmla="val 6512"/>
            </a:avLst>
          </a:prstGeom>
          <a:solidFill>
            <a:srgbClr val="EFF9F8"/>
          </a:solidFill>
          <a:ln w="12700">
            <a:solidFill>
              <a:srgbClr val="EFF9F8"/>
            </a:solidFill>
            <a:prstDash val="solid"/>
          </a:ln>
        </p:spPr>
      </p:sp>
      <p:sp>
        <p:nvSpPr>
          <p:cNvPr id="19" name="Shape 13"/>
          <p:cNvSpPr/>
          <p:nvPr/>
        </p:nvSpPr>
        <p:spPr>
          <a:xfrm>
            <a:off x="6507328" y="2697480"/>
            <a:ext cx="685800" cy="685800"/>
          </a:xfrm>
          <a:prstGeom prst="ellipse">
            <a:avLst/>
          </a:prstGeom>
          <a:solidFill>
            <a:srgbClr val="08B3AE"/>
          </a:solidFill>
          <a:ln w="12700">
            <a:solidFill>
              <a:srgbClr val="08B3AE"/>
            </a:solidFill>
            <a:prstDash val="solid"/>
          </a:ln>
        </p:spPr>
      </p:sp>
      <p:pic>
        <p:nvPicPr>
          <p:cNvPr id="20" name="Image 4" descr="preencoded.png">    </p:cNvPr>
          <p:cNvPicPr>
            <a:picLocks noChangeAspect="1"/>
          </p:cNvPicPr>
          <p:nvPr/>
        </p:nvPicPr>
        <p:blipFill>
          <a:blip r:embed="rId5"/>
          <a:stretch>
            <a:fillRect/>
          </a:stretch>
        </p:blipFill>
        <p:spPr>
          <a:xfrm>
            <a:off x="6678778" y="2868930"/>
            <a:ext cx="342900" cy="342900"/>
          </a:xfrm>
          <a:prstGeom prst="rect">
            <a:avLst/>
          </a:prstGeom>
        </p:spPr>
      </p:pic>
      <p:sp>
        <p:nvSpPr>
          <p:cNvPr id="21" name="Text 14"/>
          <p:cNvSpPr txBox="1"/>
          <p:nvPr/>
        </p:nvSpPr>
        <p:spPr>
          <a:xfrm>
            <a:off x="6507328" y="3520440"/>
            <a:ext cx="2156384" cy="411480"/>
          </a:xfrm>
          <a:prstGeom prst="rect">
            <a:avLst/>
          </a:prstGeom>
          <a:noFill/>
          <a:ln/>
        </p:spPr>
        <p:txBody>
          <a:bodyPr wrap="square" lIns="0" tIns="0" rIns="0" bIns="0" rtlCol="0" anchor="t"/>
          <a:lstStyle/>
          <a:p>
            <a:pPr indent="0" marL="0">
              <a:buNone/>
            </a:pPr>
            <a:r>
              <a:rPr lang="en-US" sz="2200" b="1" dirty="0">
                <a:solidFill>
                  <a:srgbClr val="1C2B5A"/>
                </a:solidFill>
                <a:latin typeface="Arial" pitchFamily="34" charset="0"/>
                <a:ea typeface="Arial" pitchFamily="34" charset="-122"/>
                <a:cs typeface="Arial" pitchFamily="34" charset="-120"/>
              </a:rPr>
              <a:t>[Name]</a:t>
            </a:r>
            <a:endParaRPr lang="en-US" sz="2200" dirty="0"/>
          </a:p>
        </p:txBody>
      </p:sp>
      <p:sp>
        <p:nvSpPr>
          <p:cNvPr id="22" name="Text 15"/>
          <p:cNvSpPr txBox="1"/>
          <p:nvPr/>
        </p:nvSpPr>
        <p:spPr>
          <a:xfrm>
            <a:off x="6507328" y="3931920"/>
            <a:ext cx="2156384" cy="411480"/>
          </a:xfrm>
          <a:prstGeom prst="rect">
            <a:avLst/>
          </a:prstGeom>
          <a:noFill/>
          <a:ln/>
        </p:spPr>
        <p:txBody>
          <a:bodyPr wrap="square" lIns="0" tIns="0" rIns="0" bIns="0" rtlCol="0" anchor="t"/>
          <a:lstStyle/>
          <a:p>
            <a:pPr indent="0" marL="0">
              <a:buNone/>
            </a:pPr>
            <a:r>
              <a:rPr lang="en-US" sz="1800" dirty="0">
                <a:solidFill>
                  <a:srgbClr val="6B7280"/>
                </a:solidFill>
                <a:latin typeface="Arial" pitchFamily="34" charset="0"/>
                <a:ea typeface="Arial" pitchFamily="34" charset="-122"/>
                <a:cs typeface="Arial" pitchFamily="34" charset="-120"/>
              </a:rPr>
              <a:t>Data &amp; AI</a:t>
            </a:r>
            <a:endParaRPr lang="en-US" sz="1800" dirty="0"/>
          </a:p>
        </p:txBody>
      </p:sp>
      <p:sp>
        <p:nvSpPr>
          <p:cNvPr id="23" name="Shape 16"/>
          <p:cNvSpPr/>
          <p:nvPr/>
        </p:nvSpPr>
        <p:spPr>
          <a:xfrm>
            <a:off x="9120911" y="2514600"/>
            <a:ext cx="2613584" cy="1965960"/>
          </a:xfrm>
          <a:prstGeom prst="roundRect">
            <a:avLst>
              <a:gd name="adj" fmla="val 6512"/>
            </a:avLst>
          </a:prstGeom>
          <a:solidFill>
            <a:srgbClr val="F1F5FB"/>
          </a:solidFill>
          <a:ln w="12700">
            <a:solidFill>
              <a:srgbClr val="F1F5FB"/>
            </a:solidFill>
            <a:prstDash val="solid"/>
          </a:ln>
        </p:spPr>
      </p:sp>
      <p:sp>
        <p:nvSpPr>
          <p:cNvPr id="24" name="Shape 17"/>
          <p:cNvSpPr/>
          <p:nvPr/>
        </p:nvSpPr>
        <p:spPr>
          <a:xfrm>
            <a:off x="9395231" y="2697480"/>
            <a:ext cx="685800" cy="685800"/>
          </a:xfrm>
          <a:prstGeom prst="ellipse">
            <a:avLst/>
          </a:prstGeom>
          <a:solidFill>
            <a:srgbClr val="1C2B5A"/>
          </a:solidFill>
          <a:ln w="12700">
            <a:solidFill>
              <a:srgbClr val="1C2B5A"/>
            </a:solidFill>
            <a:prstDash val="solid"/>
          </a:ln>
        </p:spPr>
      </p:sp>
      <p:pic>
        <p:nvPicPr>
          <p:cNvPr id="25" name="Image 5" descr="preencoded.png">    </p:cNvPr>
          <p:cNvPicPr>
            <a:picLocks noChangeAspect="1"/>
          </p:cNvPicPr>
          <p:nvPr/>
        </p:nvPicPr>
        <p:blipFill>
          <a:blip r:embed="rId6"/>
          <a:stretch>
            <a:fillRect/>
          </a:stretch>
        </p:blipFill>
        <p:spPr>
          <a:xfrm>
            <a:off x="9566681" y="2868930"/>
            <a:ext cx="342900" cy="342900"/>
          </a:xfrm>
          <a:prstGeom prst="rect">
            <a:avLst/>
          </a:prstGeom>
        </p:spPr>
      </p:pic>
      <p:sp>
        <p:nvSpPr>
          <p:cNvPr id="26" name="Text 18"/>
          <p:cNvSpPr txBox="1"/>
          <p:nvPr/>
        </p:nvSpPr>
        <p:spPr>
          <a:xfrm>
            <a:off x="9395231" y="3520440"/>
            <a:ext cx="2156384" cy="411480"/>
          </a:xfrm>
          <a:prstGeom prst="rect">
            <a:avLst/>
          </a:prstGeom>
          <a:noFill/>
          <a:ln/>
        </p:spPr>
        <p:txBody>
          <a:bodyPr wrap="square" lIns="0" tIns="0" rIns="0" bIns="0" rtlCol="0" anchor="t"/>
          <a:lstStyle/>
          <a:p>
            <a:pPr indent="0" marL="0">
              <a:buNone/>
            </a:pPr>
            <a:r>
              <a:rPr lang="en-US" sz="2200" b="1" dirty="0">
                <a:solidFill>
                  <a:srgbClr val="1C2B5A"/>
                </a:solidFill>
                <a:latin typeface="Arial" pitchFamily="34" charset="0"/>
                <a:ea typeface="Arial" pitchFamily="34" charset="-122"/>
                <a:cs typeface="Arial" pitchFamily="34" charset="-120"/>
              </a:rPr>
              <a:t>[Name]</a:t>
            </a:r>
            <a:endParaRPr lang="en-US" sz="2200" dirty="0"/>
          </a:p>
        </p:txBody>
      </p:sp>
      <p:sp>
        <p:nvSpPr>
          <p:cNvPr id="27" name="Text 19"/>
          <p:cNvSpPr txBox="1"/>
          <p:nvPr/>
        </p:nvSpPr>
        <p:spPr>
          <a:xfrm>
            <a:off x="9395231" y="3931920"/>
            <a:ext cx="2156384" cy="411480"/>
          </a:xfrm>
          <a:prstGeom prst="rect">
            <a:avLst/>
          </a:prstGeom>
          <a:noFill/>
          <a:ln/>
        </p:spPr>
        <p:txBody>
          <a:bodyPr wrap="square" lIns="0" tIns="0" rIns="0" bIns="0" rtlCol="0" anchor="t"/>
          <a:lstStyle/>
          <a:p>
            <a:pPr indent="0" marL="0">
              <a:buNone/>
            </a:pPr>
            <a:r>
              <a:rPr lang="en-US" sz="1800" dirty="0">
                <a:solidFill>
                  <a:srgbClr val="6B7280"/>
                </a:solidFill>
                <a:latin typeface="Arial" pitchFamily="34" charset="0"/>
                <a:ea typeface="Arial" pitchFamily="34" charset="-122"/>
                <a:cs typeface="Arial" pitchFamily="34" charset="-120"/>
              </a:rPr>
              <a:t>Testing</a:t>
            </a:r>
            <a:endParaRPr lang="en-US" sz="1800" dirty="0"/>
          </a:p>
        </p:txBody>
      </p:sp>
      <p:sp>
        <p:nvSpPr>
          <p:cNvPr id="28" name="Shape 20"/>
          <p:cNvSpPr/>
          <p:nvPr/>
        </p:nvSpPr>
        <p:spPr>
          <a:xfrm>
            <a:off x="457200" y="4754880"/>
            <a:ext cx="11277295" cy="1325880"/>
          </a:xfrm>
          <a:prstGeom prst="roundRect">
            <a:avLst>
              <a:gd name="adj" fmla="val 9655"/>
            </a:avLst>
          </a:prstGeom>
          <a:solidFill>
            <a:srgbClr val="1C2B5A"/>
          </a:solidFill>
          <a:ln w="12700">
            <a:solidFill>
              <a:srgbClr val="1C2B5A"/>
            </a:solidFill>
            <a:prstDash val="solid"/>
          </a:ln>
        </p:spPr>
      </p:sp>
      <p:sp>
        <p:nvSpPr>
          <p:cNvPr id="29" name="Text 21"/>
          <p:cNvSpPr txBox="1"/>
          <p:nvPr/>
        </p:nvSpPr>
        <p:spPr>
          <a:xfrm>
            <a:off x="777240" y="4754880"/>
            <a:ext cx="6583680" cy="1325880"/>
          </a:xfrm>
          <a:prstGeom prst="rect">
            <a:avLst/>
          </a:prstGeom>
          <a:noFill/>
          <a:ln/>
        </p:spPr>
        <p:txBody>
          <a:bodyPr wrap="square" lIns="0" tIns="0" rIns="0" bIns="0" rtlCol="0" anchor="ctr"/>
          <a:lstStyle/>
          <a:p>
            <a:pPr indent="0" marL="0">
              <a:buNone/>
            </a:pPr>
            <a:r>
              <a:rPr lang="en-US" sz="2800" b="1" i="1" dirty="0">
                <a:solidFill>
                  <a:srgbClr val="FFFFFF"/>
                </a:solidFill>
                <a:latin typeface="Arial" pitchFamily="34" charset="0"/>
                <a:ea typeface="Arial" pitchFamily="34" charset="-122"/>
                <a:cs typeface="Arial" pitchFamily="34" charset="-120"/>
              </a:rPr>
              <a:t>Report once, prove every number.</a:t>
            </a:r>
            <a:endParaRPr lang="en-US" sz="2800" dirty="0"/>
          </a:p>
        </p:txBody>
      </p:sp>
      <p:sp>
        <p:nvSpPr>
          <p:cNvPr id="30" name="Text 22"/>
          <p:cNvSpPr txBox="1"/>
          <p:nvPr/>
        </p:nvSpPr>
        <p:spPr>
          <a:xfrm>
            <a:off x="7498080" y="4892040"/>
            <a:ext cx="3931920" cy="502920"/>
          </a:xfrm>
          <a:prstGeom prst="rect">
            <a:avLst/>
          </a:prstGeom>
          <a:noFill/>
          <a:ln/>
        </p:spPr>
        <p:txBody>
          <a:bodyPr wrap="square" lIns="0" tIns="0" rIns="0" bIns="0" rtlCol="0" anchor="t"/>
          <a:lstStyle/>
          <a:p>
            <a:pPr algn="r" indent="0" marL="0">
              <a:buNone/>
            </a:pPr>
            <a:r>
              <a:rPr lang="en-US" sz="2000" b="1" dirty="0">
                <a:solidFill>
                  <a:srgbClr val="FFFFFF"/>
                </a:solidFill>
                <a:latin typeface="Arial" pitchFamily="34" charset="0"/>
                <a:ea typeface="Arial" pitchFamily="34" charset="-122"/>
                <a:cs typeface="Arial" pitchFamily="34" charset="-120"/>
              </a:rPr>
              <a:t>firmatgrouphq@gmail.com</a:t>
            </a:r>
            <a:endParaRPr lang="en-US" sz="2000" dirty="0"/>
          </a:p>
        </p:txBody>
      </p:sp>
      <p:sp>
        <p:nvSpPr>
          <p:cNvPr id="31" name="Text 23"/>
          <p:cNvSpPr txBox="1"/>
          <p:nvPr/>
        </p:nvSpPr>
        <p:spPr>
          <a:xfrm>
            <a:off x="7498080" y="5394960"/>
            <a:ext cx="3931920" cy="457200"/>
          </a:xfrm>
          <a:prstGeom prst="rect">
            <a:avLst/>
          </a:prstGeom>
          <a:noFill/>
          <a:ln/>
        </p:spPr>
        <p:txBody>
          <a:bodyPr wrap="square" lIns="0" tIns="0" rIns="0" bIns="0" rtlCol="0" anchor="t"/>
          <a:lstStyle/>
          <a:p>
            <a:pPr algn="r" indent="0" marL="0">
              <a:buNone/>
            </a:pPr>
            <a:r>
              <a:rPr lang="en-US" sz="1600" dirty="0">
                <a:solidFill>
                  <a:srgbClr val="7CE8E3"/>
                </a:solidFill>
                <a:latin typeface="Arial" pitchFamily="34" charset="0"/>
                <a:ea typeface="Arial" pitchFamily="34" charset="-122"/>
                <a:cs typeface="Arial" pitchFamily="34" charset="-120"/>
              </a:rPr>
              <a:t>github.com/greisikertuka/sporteli</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FirmatGroup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Sportel — Final pitch</dc:title>
  <dc:subject>PptxGenJS Presentation</dc:subject>
  <dc:creator>PptxGenJS</dc:creator>
  <cp:lastModifiedBy>PptxGenJS</cp:lastModifiedBy>
  <cp:revision>1</cp:revision>
  <dcterms:created xsi:type="dcterms:W3CDTF">2026-09-26T12:36:10Z</dcterms:created>
  <dcterms:modified xsi:type="dcterms:W3CDTF">2026-09-26T12:36:10Z</dcterms:modified>
</cp:coreProperties>
</file>